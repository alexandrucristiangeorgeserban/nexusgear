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0.svg" ContentType="image/svg"/>
  <Override PartName="/ppt/media/image20.svg" ContentType="image/svg"/>
  <Override PartName="/ppt/media/image16.svg" ContentType="image/svg"/>
  <Override PartName="/ppt/media/image2.svg" ContentType="image/svg"/>
  <Override PartName="/ppt/media/image25.svg" ContentType="image/svg"/>
  <Override PartName="/ppt/media/image37.svg" ContentType="image/svg"/>
  <Override PartName="/ppt/media/image31.svg" ContentType="image/svg"/>
  <Override PartName="/ppt/media/image18.svg" ContentType="image/svg"/>
  <Override PartName="/ppt/media/image41.svg" ContentType="image/svg"/>
  <Override PartName="/ppt/media/image12.svg" ContentType="image/svg"/>
  <Override PartName="/ppt/media/image43.svg" ContentType="image/svg"/>
  <Override PartName="/ppt/media/image4.svg" ContentType="image/svg"/>
  <Override PartName="/ppt/media/image33.svg" ContentType="image/svg"/>
  <Override PartName="/ppt/media/image29.svg" ContentType="image/svg"/>
  <Override PartName="/ppt/media/image39.svg" ContentType="image/svg"/>
  <Override PartName="/ppt/media/image35.svg" ContentType="image/svg"/>
  <Override PartName="/ppt/media/image27.svg" ContentType="image/svg"/>
  <Override PartName="/ppt/media/image14.svg" ContentType="image/svg"/>
  <Override PartName="/ppt/media/image22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2F59609-DBD5-4C80-8938-4225190C6D5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8D9DF4-F1E2-47FC-8D92-6DA53D0DF9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2E2DE4-D800-45FB-86A4-A6E1AD51A2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898315-6758-4265-AFF6-AC1148882B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226B06-958F-4ED5-B562-967A894C8E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BC45A0-1455-4F47-AB65-A3F7C76879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D97320-47EB-4A8D-8DA3-0AEF5A7DFC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604913-4A58-4DDC-9EE6-D674526BD0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A82648-37BA-4053-80E3-634A3BFAF4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3FA838-01EF-4E5C-BE4D-19ADF5428F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2D546-F60A-4884-8AFD-E75D0FE96C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67000" y="173880"/>
            <a:ext cx="3200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9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NEXUSGEAR  /  P1 PLANNING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66640" y="6455520"/>
            <a:ext cx="11046240" cy="360"/>
          </a:xfrm>
          <a:prstGeom prst="line">
            <a:avLst/>
          </a:prstGeom>
          <a:ln w="10160">
            <a:solidFill>
              <a:srgbClr val="2634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67000" y="6519600"/>
            <a:ext cx="6857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390A7"/>
                </a:solidFill>
                <a:effectLst/>
                <a:uFillTx/>
                <a:latin typeface="Aptos"/>
              </a:rPr>
              <a:t>E-COMMERCE PROJECT  •  ACADEMIC YEAR 2026–2027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1"/>
          </p:nvPr>
        </p:nvSpPr>
        <p:spPr>
          <a:xfrm>
            <a:off x="1115568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DF7D7A-17AE-43C0-BB9C-1D544C6900F2}" type="slidenum">
              <a: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svg"/><Relationship Id="rId3" Type="http://schemas.openxmlformats.org/officeDocument/2006/relationships/image" Target="../media/image21.png"/><Relationship Id="rId4" Type="http://schemas.openxmlformats.org/officeDocument/2006/relationships/image" Target="../media/image22.svg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24.png"/><Relationship Id="rId4" Type="http://schemas.openxmlformats.org/officeDocument/2006/relationships/image" Target="../media/image25.svg"/><Relationship Id="rId5" Type="http://schemas.openxmlformats.org/officeDocument/2006/relationships/image" Target="../media/image26.png"/><Relationship Id="rId6" Type="http://schemas.openxmlformats.org/officeDocument/2006/relationships/image" Target="../media/image27.svg"/><Relationship Id="rId7" Type="http://schemas.openxmlformats.org/officeDocument/2006/relationships/image" Target="../media/image28.png"/><Relationship Id="rId8" Type="http://schemas.openxmlformats.org/officeDocument/2006/relationships/image" Target="../media/image29.svg"/><Relationship Id="rId9" Type="http://schemas.openxmlformats.org/officeDocument/2006/relationships/image" Target="../media/image30.png"/><Relationship Id="rId10" Type="http://schemas.openxmlformats.org/officeDocument/2006/relationships/image" Target="../media/image31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svg"/><Relationship Id="rId3" Type="http://schemas.openxmlformats.org/officeDocument/2006/relationships/image" Target="../media/image32.png"/><Relationship Id="rId4" Type="http://schemas.openxmlformats.org/officeDocument/2006/relationships/image" Target="../media/image33.svg"/><Relationship Id="rId5" Type="http://schemas.openxmlformats.org/officeDocument/2006/relationships/image" Target="../media/image32.png"/><Relationship Id="rId6" Type="http://schemas.openxmlformats.org/officeDocument/2006/relationships/image" Target="../media/image33.svg"/><Relationship Id="rId7" Type="http://schemas.openxmlformats.org/officeDocument/2006/relationships/image" Target="../media/image26.png"/><Relationship Id="rId8" Type="http://schemas.openxmlformats.org/officeDocument/2006/relationships/image" Target="../media/image27.svg"/><Relationship Id="rId9" Type="http://schemas.openxmlformats.org/officeDocument/2006/relationships/image" Target="../media/image34.png"/><Relationship Id="rId10" Type="http://schemas.openxmlformats.org/officeDocument/2006/relationships/image" Target="../media/image35.svg"/><Relationship Id="rId11" Type="http://schemas.openxmlformats.org/officeDocument/2006/relationships/image" Target="../media/image36.png"/><Relationship Id="rId12" Type="http://schemas.openxmlformats.org/officeDocument/2006/relationships/image" Target="../media/image37.svg"/><Relationship Id="rId13" Type="http://schemas.openxmlformats.org/officeDocument/2006/relationships/image" Target="../media/image38.png"/><Relationship Id="rId14" Type="http://schemas.openxmlformats.org/officeDocument/2006/relationships/image" Target="../media/image39.svg"/><Relationship Id="rId15" Type="http://schemas.openxmlformats.org/officeDocument/2006/relationships/image" Target="../media/image30.png"/><Relationship Id="rId16" Type="http://schemas.openxmlformats.org/officeDocument/2006/relationships/image" Target="../media/image31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svg"/><Relationship Id="rId3" Type="http://schemas.openxmlformats.org/officeDocument/2006/relationships/image" Target="../media/image40.png"/><Relationship Id="rId4" Type="http://schemas.openxmlformats.org/officeDocument/2006/relationships/image" Target="../media/image41.svg"/><Relationship Id="rId5" Type="http://schemas.openxmlformats.org/officeDocument/2006/relationships/image" Target="../media/image40.png"/><Relationship Id="rId6" Type="http://schemas.openxmlformats.org/officeDocument/2006/relationships/image" Target="../media/image41.svg"/><Relationship Id="rId7" Type="http://schemas.openxmlformats.org/officeDocument/2006/relationships/image" Target="../media/image40.png"/><Relationship Id="rId8" Type="http://schemas.openxmlformats.org/officeDocument/2006/relationships/image" Target="../media/image41.svg"/><Relationship Id="rId9" Type="http://schemas.openxmlformats.org/officeDocument/2006/relationships/image" Target="../media/image40.png"/><Relationship Id="rId10" Type="http://schemas.openxmlformats.org/officeDocument/2006/relationships/image" Target="../media/image41.svg"/><Relationship Id="rId11" Type="http://schemas.openxmlformats.org/officeDocument/2006/relationships/image" Target="../media/image40.png"/><Relationship Id="rId12" Type="http://schemas.openxmlformats.org/officeDocument/2006/relationships/image" Target="../media/image41.svg"/><Relationship Id="rId13" Type="http://schemas.openxmlformats.org/officeDocument/2006/relationships/image" Target="../media/image42.png"/><Relationship Id="rId14" Type="http://schemas.openxmlformats.org/officeDocument/2006/relationships/image" Target="../media/image43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"/>
          <p:cNvSpPr/>
          <p:nvPr/>
        </p:nvSpPr>
        <p:spPr>
          <a:xfrm>
            <a:off x="7498080" y="548640"/>
            <a:ext cx="3748680" cy="3748680"/>
          </a:xfrm>
          <a:prstGeom prst="ellipse">
            <a:avLst/>
          </a:prstGeom>
          <a:noFill/>
          <a:ln w="15240">
            <a:solidFill>
              <a:srgbClr val="1B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8046720" y="1097280"/>
            <a:ext cx="2651400" cy="2651400"/>
          </a:xfrm>
          <a:prstGeom prst="ellipse">
            <a:avLst/>
          </a:prstGeom>
          <a:noFill/>
          <a:ln w="15240">
            <a:solidFill>
              <a:srgbClr val="234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Text 5"/>
          <p:cNvSpPr/>
          <p:nvPr/>
        </p:nvSpPr>
        <p:spPr>
          <a:xfrm>
            <a:off x="1134000" y="631080"/>
            <a:ext cx="2651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10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NEXUSGEAR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658440" y="1371600"/>
            <a:ext cx="1627560" cy="264960"/>
          </a:xfrm>
          <a:prstGeom prst="roundRect">
            <a:avLst>
              <a:gd name="adj" fmla="val 27586"/>
            </a:avLst>
          </a:prstGeom>
          <a:solidFill>
            <a:srgbClr val="111B2D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" name="Text 7"/>
          <p:cNvSpPr/>
          <p:nvPr/>
        </p:nvSpPr>
        <p:spPr>
          <a:xfrm>
            <a:off x="658440" y="1376280"/>
            <a:ext cx="16275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PRESENTATION 01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640080" y="1828800"/>
            <a:ext cx="56689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5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Team, Setup</a:t>
            </a:r>
            <a:endParaRPr lang="en-US" sz="3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5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&amp; Planning</a:t>
            </a:r>
            <a:endParaRPr lang="en-US" sz="3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667440" y="3401640"/>
            <a:ext cx="5211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E-Commerce Project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667440" y="3840480"/>
            <a:ext cx="50288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C4CDDA"/>
                </a:solidFill>
                <a:effectLst/>
                <a:uFillTx/>
                <a:latin typeface="Aptos"/>
                <a:ea typeface="Aptos"/>
              </a:rPr>
              <a:t>A curated home for high-performance gaming peripherals and ergonomic desk setups.</a:t>
            </a:r>
            <a:endParaRPr lang="en-US" sz="12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667440" y="4727520"/>
            <a:ext cx="2267280" cy="822600"/>
          </a:xfrm>
          <a:prstGeom prst="roundRect">
            <a:avLst>
              <a:gd name="adj" fmla="val 13333"/>
            </a:avLst>
          </a:prstGeom>
          <a:solidFill>
            <a:srgbClr val="111B2D"/>
          </a:solidFill>
          <a:ln w="8255">
            <a:solidFill>
              <a:srgbClr val="23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Shape 12"/>
          <p:cNvSpPr/>
          <p:nvPr/>
        </p:nvSpPr>
        <p:spPr>
          <a:xfrm>
            <a:off x="831960" y="4937760"/>
            <a:ext cx="402120" cy="402120"/>
          </a:xfrm>
          <a:prstGeom prst="roundRect">
            <a:avLst>
              <a:gd name="adj" fmla="val 20455"/>
            </a:avLst>
          </a:prstGeom>
          <a:solidFill>
            <a:srgbClr val="203D49"/>
          </a:solidFill>
          <a:ln w="10160">
            <a:solidFill>
              <a:srgbClr val="203D4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6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32760" y="50382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13"/>
          <p:cNvSpPr/>
          <p:nvPr/>
        </p:nvSpPr>
        <p:spPr>
          <a:xfrm>
            <a:off x="1362600" y="4805280"/>
            <a:ext cx="1416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Popa-Ion Andrei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1362600" y="5074920"/>
            <a:ext cx="1444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Frontend Lead &amp;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Customer Experience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5"/>
          <p:cNvSpPr/>
          <p:nvPr/>
        </p:nvSpPr>
        <p:spPr>
          <a:xfrm>
            <a:off x="3072240" y="4727520"/>
            <a:ext cx="2267280" cy="822600"/>
          </a:xfrm>
          <a:prstGeom prst="roundRect">
            <a:avLst>
              <a:gd name="adj" fmla="val 13333"/>
            </a:avLst>
          </a:prstGeom>
          <a:solidFill>
            <a:srgbClr val="111B2D"/>
          </a:solidFill>
          <a:ln w="8255">
            <a:solidFill>
              <a:srgbClr val="23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3237120" y="4937760"/>
            <a:ext cx="402120" cy="402120"/>
          </a:xfrm>
          <a:prstGeom prst="roundRect">
            <a:avLst>
              <a:gd name="adj" fmla="val 20455"/>
            </a:avLst>
          </a:prstGeom>
          <a:solidFill>
            <a:srgbClr val="283552"/>
          </a:solidFill>
          <a:ln w="10160">
            <a:solidFill>
              <a:srgbClr val="2835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1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337560" y="50382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17"/>
          <p:cNvSpPr/>
          <p:nvPr/>
        </p:nvSpPr>
        <p:spPr>
          <a:xfrm>
            <a:off x="3767400" y="4777920"/>
            <a:ext cx="1499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Șerban Alexandru-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Cristian-George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3767400" y="5115960"/>
            <a:ext cx="14810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Backend Lead &amp;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System Integrations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685800" y="5605200"/>
            <a:ext cx="5257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Popa-Ion Andrei: UI, client flows and responsive design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Șerban Alexandru-Cristian-George: architecture, database, Stripe and security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676800" y="6226920"/>
            <a:ext cx="5120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390A7"/>
                </a:solidFill>
                <a:effectLst/>
                <a:uFillTx/>
                <a:latin typeface="Aptos"/>
              </a:rPr>
              <a:t>ACADEMIC YEAR 2026–2027  •  P1 / WEEK 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1"/>
          <p:cNvSpPr/>
          <p:nvPr/>
        </p:nvSpPr>
        <p:spPr>
          <a:xfrm>
            <a:off x="6812280" y="1078920"/>
            <a:ext cx="4525920" cy="4553280"/>
          </a:xfrm>
          <a:prstGeom prst="roundRect">
            <a:avLst>
              <a:gd name="adj" fmla="val 3636"/>
            </a:avLst>
          </a:prstGeom>
          <a:solidFill>
            <a:srgbClr val="101D30"/>
          </a:solidFill>
          <a:ln w="8255">
            <a:solidFill>
              <a:srgbClr val="2944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Shape 22"/>
          <p:cNvSpPr/>
          <p:nvPr/>
        </p:nvSpPr>
        <p:spPr>
          <a:xfrm>
            <a:off x="7150680" y="1398960"/>
            <a:ext cx="959760" cy="264960"/>
          </a:xfrm>
          <a:prstGeom prst="roundRect">
            <a:avLst>
              <a:gd name="adj" fmla="val 27586"/>
            </a:avLst>
          </a:prstGeom>
          <a:solidFill>
            <a:srgbClr val="132B37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Text 23"/>
          <p:cNvSpPr/>
          <p:nvPr/>
        </p:nvSpPr>
        <p:spPr>
          <a:xfrm>
            <a:off x="7205400" y="1403640"/>
            <a:ext cx="849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THE NICHE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4"/>
          <p:cNvSpPr/>
          <p:nvPr/>
        </p:nvSpPr>
        <p:spPr>
          <a:xfrm>
            <a:off x="7150680" y="1792080"/>
            <a:ext cx="347436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Build a better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desk experience.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5"/>
          <p:cNvSpPr/>
          <p:nvPr/>
        </p:nvSpPr>
        <p:spPr>
          <a:xfrm>
            <a:off x="7205400" y="3063240"/>
            <a:ext cx="2880000" cy="1060200"/>
          </a:xfrm>
          <a:prstGeom prst="roundRect">
            <a:avLst>
              <a:gd name="adj" fmla="val 10345"/>
            </a:avLst>
          </a:prstGeom>
          <a:solidFill>
            <a:srgbClr val="1A2B42"/>
          </a:solidFill>
          <a:ln w="10160">
            <a:solidFill>
              <a:srgbClr val="3A53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Shape 26"/>
          <p:cNvSpPr/>
          <p:nvPr/>
        </p:nvSpPr>
        <p:spPr>
          <a:xfrm>
            <a:off x="7351920" y="320940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Shape 27"/>
          <p:cNvSpPr/>
          <p:nvPr/>
        </p:nvSpPr>
        <p:spPr>
          <a:xfrm>
            <a:off x="7592400" y="320940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Shape 28"/>
          <p:cNvSpPr/>
          <p:nvPr/>
        </p:nvSpPr>
        <p:spPr>
          <a:xfrm>
            <a:off x="7832880" y="320940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" name="Shape 29"/>
          <p:cNvSpPr/>
          <p:nvPr/>
        </p:nvSpPr>
        <p:spPr>
          <a:xfrm>
            <a:off x="8073360" y="320940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" name="Shape 30"/>
          <p:cNvSpPr/>
          <p:nvPr/>
        </p:nvSpPr>
        <p:spPr>
          <a:xfrm>
            <a:off x="8313840" y="320940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6" name="Shape 31"/>
          <p:cNvSpPr/>
          <p:nvPr/>
        </p:nvSpPr>
        <p:spPr>
          <a:xfrm>
            <a:off x="8554320" y="320940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45E0C1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" name="Shape 32"/>
          <p:cNvSpPr/>
          <p:nvPr/>
        </p:nvSpPr>
        <p:spPr>
          <a:xfrm>
            <a:off x="8794800" y="320940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Shape 33"/>
          <p:cNvSpPr/>
          <p:nvPr/>
        </p:nvSpPr>
        <p:spPr>
          <a:xfrm>
            <a:off x="9035280" y="320940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Shape 34"/>
          <p:cNvSpPr/>
          <p:nvPr/>
        </p:nvSpPr>
        <p:spPr>
          <a:xfrm>
            <a:off x="9275760" y="320940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Shape 35"/>
          <p:cNvSpPr/>
          <p:nvPr/>
        </p:nvSpPr>
        <p:spPr>
          <a:xfrm>
            <a:off x="9516240" y="320940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Shape 36"/>
          <p:cNvSpPr/>
          <p:nvPr/>
        </p:nvSpPr>
        <p:spPr>
          <a:xfrm>
            <a:off x="9756720" y="320940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" name="Shape 37"/>
          <p:cNvSpPr/>
          <p:nvPr/>
        </p:nvSpPr>
        <p:spPr>
          <a:xfrm>
            <a:off x="7351920" y="347004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Shape 38"/>
          <p:cNvSpPr/>
          <p:nvPr/>
        </p:nvSpPr>
        <p:spPr>
          <a:xfrm>
            <a:off x="7592400" y="347004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Shape 39"/>
          <p:cNvSpPr/>
          <p:nvPr/>
        </p:nvSpPr>
        <p:spPr>
          <a:xfrm>
            <a:off x="7832880" y="347004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Shape 40"/>
          <p:cNvSpPr/>
          <p:nvPr/>
        </p:nvSpPr>
        <p:spPr>
          <a:xfrm>
            <a:off x="8073360" y="347004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Shape 41"/>
          <p:cNvSpPr/>
          <p:nvPr/>
        </p:nvSpPr>
        <p:spPr>
          <a:xfrm>
            <a:off x="8313840" y="347004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Shape 42"/>
          <p:cNvSpPr/>
          <p:nvPr/>
        </p:nvSpPr>
        <p:spPr>
          <a:xfrm>
            <a:off x="8554320" y="347004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8" name="Shape 43"/>
          <p:cNvSpPr/>
          <p:nvPr/>
        </p:nvSpPr>
        <p:spPr>
          <a:xfrm>
            <a:off x="8794800" y="347004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Shape 44"/>
          <p:cNvSpPr/>
          <p:nvPr/>
        </p:nvSpPr>
        <p:spPr>
          <a:xfrm>
            <a:off x="9035280" y="347004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" name="Shape 45"/>
          <p:cNvSpPr/>
          <p:nvPr/>
        </p:nvSpPr>
        <p:spPr>
          <a:xfrm>
            <a:off x="9275760" y="347004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Shape 46"/>
          <p:cNvSpPr/>
          <p:nvPr/>
        </p:nvSpPr>
        <p:spPr>
          <a:xfrm>
            <a:off x="9516240" y="347004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2" name="Shape 47"/>
          <p:cNvSpPr/>
          <p:nvPr/>
        </p:nvSpPr>
        <p:spPr>
          <a:xfrm>
            <a:off x="9756720" y="347004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3" name="Shape 48"/>
          <p:cNvSpPr/>
          <p:nvPr/>
        </p:nvSpPr>
        <p:spPr>
          <a:xfrm>
            <a:off x="7351920" y="373068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45617A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4" name="Shape 49"/>
          <p:cNvSpPr/>
          <p:nvPr/>
        </p:nvSpPr>
        <p:spPr>
          <a:xfrm>
            <a:off x="7592400" y="373068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5" name="Shape 50"/>
          <p:cNvSpPr/>
          <p:nvPr/>
        </p:nvSpPr>
        <p:spPr>
          <a:xfrm>
            <a:off x="7832880" y="373068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" name="Shape 51"/>
          <p:cNvSpPr/>
          <p:nvPr/>
        </p:nvSpPr>
        <p:spPr>
          <a:xfrm>
            <a:off x="8073360" y="373068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7" name="Shape 52"/>
          <p:cNvSpPr/>
          <p:nvPr/>
        </p:nvSpPr>
        <p:spPr>
          <a:xfrm>
            <a:off x="8313840" y="373068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8" name="Shape 53"/>
          <p:cNvSpPr/>
          <p:nvPr/>
        </p:nvSpPr>
        <p:spPr>
          <a:xfrm>
            <a:off x="8554320" y="373068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9" name="Shape 54"/>
          <p:cNvSpPr/>
          <p:nvPr/>
        </p:nvSpPr>
        <p:spPr>
          <a:xfrm>
            <a:off x="8794800" y="373068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0" name="Shape 55"/>
          <p:cNvSpPr/>
          <p:nvPr/>
        </p:nvSpPr>
        <p:spPr>
          <a:xfrm>
            <a:off x="9035280" y="373068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1" name="Shape 56"/>
          <p:cNvSpPr/>
          <p:nvPr/>
        </p:nvSpPr>
        <p:spPr>
          <a:xfrm>
            <a:off x="9275760" y="373068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2" name="Shape 57"/>
          <p:cNvSpPr/>
          <p:nvPr/>
        </p:nvSpPr>
        <p:spPr>
          <a:xfrm>
            <a:off x="9516240" y="373068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263B54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3" name="Shape 58"/>
          <p:cNvSpPr/>
          <p:nvPr/>
        </p:nvSpPr>
        <p:spPr>
          <a:xfrm>
            <a:off x="9756720" y="3730680"/>
            <a:ext cx="187200" cy="191520"/>
          </a:xfrm>
          <a:prstGeom prst="roundRect">
            <a:avLst>
              <a:gd name="adj" fmla="val 12195"/>
            </a:avLst>
          </a:prstGeom>
          <a:solidFill>
            <a:srgbClr val="45617A"/>
          </a:solidFill>
          <a:ln w="3810">
            <a:solidFill>
              <a:srgbClr val="3A4F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4" name="Shape 59"/>
          <p:cNvSpPr/>
          <p:nvPr/>
        </p:nvSpPr>
        <p:spPr>
          <a:xfrm>
            <a:off x="8074080" y="3730680"/>
            <a:ext cx="1142640" cy="191520"/>
          </a:xfrm>
          <a:prstGeom prst="roundRect">
            <a:avLst>
              <a:gd name="adj" fmla="val 15625"/>
            </a:avLst>
          </a:prstGeom>
          <a:solidFill>
            <a:srgbClr val="273C53"/>
          </a:solidFill>
          <a:ln w="10160">
            <a:solidFill>
              <a:srgbClr val="273C5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5" name="Shape 60"/>
          <p:cNvSpPr/>
          <p:nvPr/>
        </p:nvSpPr>
        <p:spPr>
          <a:xfrm>
            <a:off x="10287000" y="3054240"/>
            <a:ext cx="667080" cy="1206720"/>
          </a:xfrm>
          <a:prstGeom prst="ellipse">
            <a:avLst/>
          </a:prstGeom>
          <a:solidFill>
            <a:srgbClr val="1D3048"/>
          </a:solidFill>
          <a:ln w="12700">
            <a:solidFill>
              <a:srgbClr val="6380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6" name="Shape 61"/>
          <p:cNvSpPr/>
          <p:nvPr/>
        </p:nvSpPr>
        <p:spPr>
          <a:xfrm>
            <a:off x="10620720" y="3154680"/>
            <a:ext cx="360" cy="347400"/>
          </a:xfrm>
          <a:prstGeom prst="line">
            <a:avLst/>
          </a:prstGeom>
          <a:ln w="1651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7" name="Shape 62"/>
          <p:cNvSpPr/>
          <p:nvPr/>
        </p:nvSpPr>
        <p:spPr>
          <a:xfrm>
            <a:off x="10561320" y="3209400"/>
            <a:ext cx="118440" cy="209880"/>
          </a:xfrm>
          <a:prstGeom prst="roundRect">
            <a:avLst>
              <a:gd name="adj" fmla="val 30769"/>
            </a:avLst>
          </a:prstGeom>
          <a:solidFill>
            <a:srgbClr val="45E0C1"/>
          </a:solidFill>
          <a:ln w="10160">
            <a:solidFill>
              <a:srgbClr val="45E0C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" name="Shape 63"/>
          <p:cNvSpPr/>
          <p:nvPr/>
        </p:nvSpPr>
        <p:spPr>
          <a:xfrm>
            <a:off x="7269480" y="4507920"/>
            <a:ext cx="3675600" cy="360"/>
          </a:xfrm>
          <a:prstGeom prst="line">
            <a:avLst/>
          </a:prstGeom>
          <a:ln w="12700">
            <a:solidFill>
              <a:srgbClr val="3550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9" name="Shape 64"/>
          <p:cNvSpPr/>
          <p:nvPr/>
        </p:nvSpPr>
        <p:spPr>
          <a:xfrm>
            <a:off x="7543800" y="4690800"/>
            <a:ext cx="694440" cy="292320"/>
          </a:xfrm>
          <a:prstGeom prst="roundRect">
            <a:avLst>
              <a:gd name="adj" fmla="val 18750"/>
            </a:avLst>
          </a:prstGeom>
          <a:solidFill>
            <a:srgbClr val="172941"/>
          </a:solidFill>
          <a:ln w="10160">
            <a:solidFill>
              <a:srgbClr val="304A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0" name="Shape 65"/>
          <p:cNvSpPr/>
          <p:nvPr/>
        </p:nvSpPr>
        <p:spPr>
          <a:xfrm>
            <a:off x="8339400" y="4690800"/>
            <a:ext cx="694440" cy="292320"/>
          </a:xfrm>
          <a:prstGeom prst="roundRect">
            <a:avLst>
              <a:gd name="adj" fmla="val 18750"/>
            </a:avLst>
          </a:prstGeom>
          <a:solidFill>
            <a:srgbClr val="172941"/>
          </a:solidFill>
          <a:ln w="10160">
            <a:solidFill>
              <a:srgbClr val="304A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1" name="Shape 66"/>
          <p:cNvSpPr/>
          <p:nvPr/>
        </p:nvSpPr>
        <p:spPr>
          <a:xfrm>
            <a:off x="9135000" y="4690800"/>
            <a:ext cx="694440" cy="292320"/>
          </a:xfrm>
          <a:prstGeom prst="roundRect">
            <a:avLst>
              <a:gd name="adj" fmla="val 18750"/>
            </a:avLst>
          </a:prstGeom>
          <a:solidFill>
            <a:srgbClr val="172941"/>
          </a:solidFill>
          <a:ln w="10160">
            <a:solidFill>
              <a:srgbClr val="304A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2" name="Text 67"/>
          <p:cNvSpPr/>
          <p:nvPr/>
        </p:nvSpPr>
        <p:spPr>
          <a:xfrm>
            <a:off x="7205400" y="523044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30 seeded products  /  4 categories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8"/>
          <p:cNvSpPr/>
          <p:nvPr/>
        </p:nvSpPr>
        <p:spPr>
          <a:xfrm>
            <a:off x="7205400" y="5422320"/>
            <a:ext cx="3382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GitHub • custom stack • sandbox payments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75"/>
          <p:cNvSpPr/>
          <p:nvPr/>
        </p:nvSpPr>
        <p:spPr>
          <a:xfrm>
            <a:off x="9930240" y="4690800"/>
            <a:ext cx="694440" cy="292320"/>
          </a:xfrm>
          <a:prstGeom prst="roundRect">
            <a:avLst>
              <a:gd name="adj" fmla="val 16667"/>
            </a:avLst>
          </a:prstGeom>
          <a:solidFill>
            <a:srgbClr val="172941"/>
          </a:solidFill>
          <a:ln w="10160">
            <a:solidFill>
              <a:srgbClr val="30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85" name="Connector 88"/>
          <p:cNvCxnSpPr/>
          <p:nvPr/>
        </p:nvCxnSpPr>
        <p:spPr>
          <a:xfrm>
            <a:off x="8686800" y="4750200"/>
            <a:ext cx="360" cy="55080"/>
          </a:xfrm>
          <a:prstGeom prst="straightConnector1">
            <a:avLst/>
          </a:prstGeom>
          <a:ln>
            <a:solidFill>
              <a:srgbClr val="5D97FF"/>
            </a:solidFill>
          </a:ln>
        </p:spPr>
      </p:cxnSp>
      <p:cxnSp>
        <p:nvCxnSpPr>
          <p:cNvPr id="86" name="Connector 89"/>
          <p:cNvCxnSpPr/>
          <p:nvPr/>
        </p:nvCxnSpPr>
        <p:spPr>
          <a:xfrm>
            <a:off x="8686800" y="4757400"/>
            <a:ext cx="360" cy="17640"/>
          </a:xfrm>
          <a:prstGeom prst="straightConnector1">
            <a:avLst/>
          </a:prstGeom>
          <a:ln w="19050">
            <a:solidFill>
              <a:srgbClr val="45E0C1"/>
            </a:solidFill>
          </a:ln>
        </p:spPr>
      </p:cxnSp>
      <p:pic>
        <p:nvPicPr>
          <p:cNvPr id="87" name="Picture 90" descr="image.png"/>
          <p:cNvPicPr/>
          <p:nvPr/>
        </p:nvPicPr>
        <p:blipFill>
          <a:blip r:embed="rId5"/>
          <a:stretch/>
        </p:blipFill>
        <p:spPr>
          <a:xfrm>
            <a:off x="7763400" y="4723920"/>
            <a:ext cx="255600" cy="2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91" descr="image.png"/>
          <p:cNvPicPr/>
          <p:nvPr/>
        </p:nvPicPr>
        <p:blipFill>
          <a:blip r:embed="rId6"/>
          <a:stretch/>
        </p:blipFill>
        <p:spPr>
          <a:xfrm>
            <a:off x="8581680" y="4721040"/>
            <a:ext cx="209880" cy="23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92" descr="image.png"/>
          <p:cNvPicPr/>
          <p:nvPr/>
        </p:nvPicPr>
        <p:blipFill>
          <a:blip r:embed="rId7"/>
          <a:stretch/>
        </p:blipFill>
        <p:spPr>
          <a:xfrm>
            <a:off x="9340560" y="4736520"/>
            <a:ext cx="273960" cy="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93" descr="image.png"/>
          <p:cNvPicPr/>
          <p:nvPr/>
        </p:nvPicPr>
        <p:blipFill>
          <a:blip r:embed="rId8"/>
          <a:stretch/>
        </p:blipFill>
        <p:spPr>
          <a:xfrm>
            <a:off x="10168200" y="4715640"/>
            <a:ext cx="219240" cy="24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31080" y="594360"/>
            <a:ext cx="402480" cy="4024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567000" y="521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Context &amp; store niche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85360" y="100584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Curated gear for people who spend serious time at their desk.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10622520" y="191880"/>
            <a:ext cx="944280" cy="264960"/>
          </a:xfrm>
          <a:prstGeom prst="roundRect">
            <a:avLst>
              <a:gd name="adj" fmla="val 27586"/>
            </a:avLst>
          </a:prstGeom>
          <a:solidFill>
            <a:srgbClr val="111B2D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5" name="Text 3"/>
          <p:cNvSpPr/>
          <p:nvPr/>
        </p:nvSpPr>
        <p:spPr>
          <a:xfrm>
            <a:off x="10688040" y="196560"/>
            <a:ext cx="813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01 / CONTEXT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594360" y="1490400"/>
            <a:ext cx="3684600" cy="4544280"/>
          </a:xfrm>
          <a:prstGeom prst="roundRect">
            <a:avLst>
              <a:gd name="adj" fmla="val 2978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87040" y="181044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5"/>
          <p:cNvSpPr/>
          <p:nvPr/>
        </p:nvSpPr>
        <p:spPr>
          <a:xfrm>
            <a:off x="1353240" y="17463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NexusGear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905400" y="2231280"/>
            <a:ext cx="2971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A focused store, not a generic mega-marketplace.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896040" y="2852640"/>
            <a:ext cx="3053880" cy="360"/>
          </a:xfrm>
          <a:prstGeom prst="line">
            <a:avLst/>
          </a:prstGeom>
          <a:ln w="889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905400" y="30632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19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TARGET CUSTOMER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914400" y="3429000"/>
            <a:ext cx="438480" cy="438480"/>
          </a:xfrm>
          <a:prstGeom prst="roundRect">
            <a:avLst>
              <a:gd name="adj" fmla="val 16667"/>
            </a:avLst>
          </a:prstGeom>
          <a:solidFill>
            <a:srgbClr val="152238"/>
          </a:solidFill>
          <a:ln w="1016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03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33200" y="35388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10"/>
          <p:cNvSpPr/>
          <p:nvPr/>
        </p:nvSpPr>
        <p:spPr>
          <a:xfrm>
            <a:off x="1517760" y="343800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Gamers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1517760" y="36576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Precision &amp; performance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914400" y="4123800"/>
            <a:ext cx="438480" cy="438480"/>
          </a:xfrm>
          <a:prstGeom prst="roundRect">
            <a:avLst>
              <a:gd name="adj" fmla="val 16667"/>
            </a:avLst>
          </a:prstGeom>
          <a:solidFill>
            <a:srgbClr val="152238"/>
          </a:solidFill>
          <a:ln w="1016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07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33200" y="42336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3"/>
          <p:cNvSpPr/>
          <p:nvPr/>
        </p:nvSpPr>
        <p:spPr>
          <a:xfrm>
            <a:off x="1517760" y="413316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Programmers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1517760" y="43524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Comfort for long sessions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5"/>
          <p:cNvSpPr/>
          <p:nvPr/>
        </p:nvSpPr>
        <p:spPr>
          <a:xfrm>
            <a:off x="914400" y="4818960"/>
            <a:ext cx="438480" cy="438480"/>
          </a:xfrm>
          <a:prstGeom prst="roundRect">
            <a:avLst>
              <a:gd name="adj" fmla="val 16667"/>
            </a:avLst>
          </a:prstGeom>
          <a:solidFill>
            <a:srgbClr val="152238"/>
          </a:solidFill>
          <a:ln w="1016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1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033200" y="49287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6"/>
          <p:cNvSpPr/>
          <p:nvPr/>
        </p:nvSpPr>
        <p:spPr>
          <a:xfrm>
            <a:off x="1517760" y="482796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Remote workers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7"/>
          <p:cNvSpPr/>
          <p:nvPr/>
        </p:nvSpPr>
        <p:spPr>
          <a:xfrm>
            <a:off x="1517760" y="504756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A healthier desk setup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4498920" y="1490400"/>
            <a:ext cx="7095240" cy="4544280"/>
          </a:xfrm>
          <a:prstGeom prst="roundRect">
            <a:avLst>
              <a:gd name="adj" fmla="val 2414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5" name="Text 19"/>
          <p:cNvSpPr/>
          <p:nvPr/>
        </p:nvSpPr>
        <p:spPr>
          <a:xfrm>
            <a:off x="4809600" y="174636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19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CATALOG SCOPE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0"/>
          <p:cNvSpPr/>
          <p:nvPr/>
        </p:nvSpPr>
        <p:spPr>
          <a:xfrm>
            <a:off x="4809600" y="1984320"/>
            <a:ext cx="950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45E0C1"/>
                </a:solidFill>
                <a:effectLst/>
                <a:uFillTx/>
                <a:latin typeface="Aptos Display"/>
                <a:ea typeface="Aptos Display"/>
              </a:rPr>
              <a:t>30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5733360" y="2167200"/>
            <a:ext cx="2651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products across 4 categories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2"/>
          <p:cNvSpPr/>
          <p:nvPr/>
        </p:nvSpPr>
        <p:spPr>
          <a:xfrm>
            <a:off x="9957960" y="2148840"/>
            <a:ext cx="114264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9" name="Text 23"/>
          <p:cNvSpPr/>
          <p:nvPr/>
        </p:nvSpPr>
        <p:spPr>
          <a:xfrm>
            <a:off x="10012680" y="2153520"/>
            <a:ext cx="10328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SEED SCRIPT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4"/>
          <p:cNvSpPr/>
          <p:nvPr/>
        </p:nvSpPr>
        <p:spPr>
          <a:xfrm>
            <a:off x="4809600" y="2852640"/>
            <a:ext cx="6464880" cy="360"/>
          </a:xfrm>
          <a:prstGeom prst="line">
            <a:avLst/>
          </a:prstGeom>
          <a:ln w="889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1" name="Text 25"/>
          <p:cNvSpPr/>
          <p:nvPr/>
        </p:nvSpPr>
        <p:spPr>
          <a:xfrm>
            <a:off x="4827960" y="3072240"/>
            <a:ext cx="2084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Mechanical keyboards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6"/>
          <p:cNvSpPr/>
          <p:nvPr/>
        </p:nvSpPr>
        <p:spPr>
          <a:xfrm>
            <a:off x="6867000" y="30816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60%, 75% &amp; TKL layouts; hot-swappable switches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7"/>
          <p:cNvSpPr/>
          <p:nvPr/>
        </p:nvSpPr>
        <p:spPr>
          <a:xfrm>
            <a:off x="10634400" y="305856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8"/>
          <p:cNvSpPr/>
          <p:nvPr/>
        </p:nvSpPr>
        <p:spPr>
          <a:xfrm>
            <a:off x="4827960" y="3383280"/>
            <a:ext cx="6171840" cy="50040"/>
          </a:xfrm>
          <a:prstGeom prst="roundRect">
            <a:avLst>
              <a:gd name="adj" fmla="val 36364"/>
            </a:avLst>
          </a:prstGeom>
          <a:solidFill>
            <a:srgbClr val="26364D"/>
          </a:solidFill>
          <a:ln w="10160">
            <a:solidFill>
              <a:srgbClr val="26364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5" name="Shape 29"/>
          <p:cNvSpPr/>
          <p:nvPr/>
        </p:nvSpPr>
        <p:spPr>
          <a:xfrm>
            <a:off x="4827960" y="3383280"/>
            <a:ext cx="6171840" cy="50040"/>
          </a:xfrm>
          <a:prstGeom prst="roundRect">
            <a:avLst>
              <a:gd name="adj" fmla="val 36364"/>
            </a:avLst>
          </a:prstGeom>
          <a:solidFill>
            <a:srgbClr val="45E0C1"/>
          </a:solidFill>
          <a:ln w="10160">
            <a:solidFill>
              <a:srgbClr val="45E0C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6" name="Text 30"/>
          <p:cNvSpPr/>
          <p:nvPr/>
        </p:nvSpPr>
        <p:spPr>
          <a:xfrm>
            <a:off x="4827960" y="3740040"/>
            <a:ext cx="2084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Gaming mice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1"/>
          <p:cNvSpPr/>
          <p:nvPr/>
        </p:nvSpPr>
        <p:spPr>
          <a:xfrm>
            <a:off x="6867000" y="374904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Ultralight wired/wireless; high-DPI optical sensors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2"/>
          <p:cNvSpPr/>
          <p:nvPr/>
        </p:nvSpPr>
        <p:spPr>
          <a:xfrm>
            <a:off x="10634400" y="372636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3"/>
          <p:cNvSpPr/>
          <p:nvPr/>
        </p:nvSpPr>
        <p:spPr>
          <a:xfrm>
            <a:off x="4827960" y="4050720"/>
            <a:ext cx="6171840" cy="50040"/>
          </a:xfrm>
          <a:prstGeom prst="roundRect">
            <a:avLst>
              <a:gd name="adj" fmla="val 36364"/>
            </a:avLst>
          </a:prstGeom>
          <a:solidFill>
            <a:srgbClr val="26364D"/>
          </a:solidFill>
          <a:ln w="10160">
            <a:solidFill>
              <a:srgbClr val="26364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0" name="Shape 34"/>
          <p:cNvSpPr/>
          <p:nvPr/>
        </p:nvSpPr>
        <p:spPr>
          <a:xfrm>
            <a:off x="4827960" y="4050720"/>
            <a:ext cx="6171840" cy="50040"/>
          </a:xfrm>
          <a:prstGeom prst="roundRect">
            <a:avLst>
              <a:gd name="adj" fmla="val 36364"/>
            </a:avLst>
          </a:prstGeom>
          <a:solidFill>
            <a:srgbClr val="6C9EFF"/>
          </a:solidFill>
          <a:ln w="10160">
            <a:solidFill>
              <a:srgbClr val="6C9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1" name="Text 35"/>
          <p:cNvSpPr/>
          <p:nvPr/>
        </p:nvSpPr>
        <p:spPr>
          <a:xfrm>
            <a:off x="4827960" y="4407480"/>
            <a:ext cx="2084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Deskmats &amp; mousepads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6"/>
          <p:cNvSpPr/>
          <p:nvPr/>
        </p:nvSpPr>
        <p:spPr>
          <a:xfrm>
            <a:off x="6867000" y="441648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Extended XL/XXL cloth and hybrid glide pads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7"/>
          <p:cNvSpPr/>
          <p:nvPr/>
        </p:nvSpPr>
        <p:spPr>
          <a:xfrm>
            <a:off x="10634400" y="439380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8"/>
          <p:cNvSpPr/>
          <p:nvPr/>
        </p:nvSpPr>
        <p:spPr>
          <a:xfrm>
            <a:off x="4827960" y="4718160"/>
            <a:ext cx="6171840" cy="50040"/>
          </a:xfrm>
          <a:prstGeom prst="roundRect">
            <a:avLst>
              <a:gd name="adj" fmla="val 36364"/>
            </a:avLst>
          </a:prstGeom>
          <a:solidFill>
            <a:srgbClr val="26364D"/>
          </a:solidFill>
          <a:ln w="10160">
            <a:solidFill>
              <a:srgbClr val="26364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5" name="Shape 39"/>
          <p:cNvSpPr/>
          <p:nvPr/>
        </p:nvSpPr>
        <p:spPr>
          <a:xfrm>
            <a:off x="4827960" y="4718160"/>
            <a:ext cx="6171840" cy="50040"/>
          </a:xfrm>
          <a:prstGeom prst="roundRect">
            <a:avLst>
              <a:gd name="adj" fmla="val 36364"/>
            </a:avLst>
          </a:prstGeom>
          <a:solidFill>
            <a:srgbClr val="FFB86B"/>
          </a:solidFill>
          <a:ln w="10160">
            <a:solidFill>
              <a:srgbClr val="FFB8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6" name="Text 40"/>
          <p:cNvSpPr/>
          <p:nvPr/>
        </p:nvSpPr>
        <p:spPr>
          <a:xfrm>
            <a:off x="4827960" y="5074920"/>
            <a:ext cx="2084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Ergonomic gaming chairs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1"/>
          <p:cNvSpPr/>
          <p:nvPr/>
        </p:nvSpPr>
        <p:spPr>
          <a:xfrm>
            <a:off x="6867000" y="508392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Lumbar support, 4D armrests, breathable fabric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2"/>
          <p:cNvSpPr/>
          <p:nvPr/>
        </p:nvSpPr>
        <p:spPr>
          <a:xfrm>
            <a:off x="10634400" y="506124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7D9B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3"/>
          <p:cNvSpPr/>
          <p:nvPr/>
        </p:nvSpPr>
        <p:spPr>
          <a:xfrm>
            <a:off x="4827960" y="5385960"/>
            <a:ext cx="6171840" cy="50040"/>
          </a:xfrm>
          <a:prstGeom prst="roundRect">
            <a:avLst>
              <a:gd name="adj" fmla="val 36364"/>
            </a:avLst>
          </a:prstGeom>
          <a:solidFill>
            <a:srgbClr val="26364D"/>
          </a:solidFill>
          <a:ln w="10160">
            <a:solidFill>
              <a:srgbClr val="26364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0" name="Shape 44"/>
          <p:cNvSpPr/>
          <p:nvPr/>
        </p:nvSpPr>
        <p:spPr>
          <a:xfrm>
            <a:off x="4827960" y="5385960"/>
            <a:ext cx="4628880" cy="50040"/>
          </a:xfrm>
          <a:prstGeom prst="roundRect">
            <a:avLst>
              <a:gd name="adj" fmla="val 36364"/>
            </a:avLst>
          </a:prstGeom>
          <a:solidFill>
            <a:srgbClr val="FF7D9B"/>
          </a:solidFill>
          <a:ln w="10160">
            <a:solidFill>
              <a:srgbClr val="FF7D9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1" name="Text 45"/>
          <p:cNvSpPr/>
          <p:nvPr/>
        </p:nvSpPr>
        <p:spPr>
          <a:xfrm>
            <a:off x="4827960" y="5833800"/>
            <a:ext cx="630900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i="1" u="none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Every seeded item will include an image, price and stock level.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sldNum" idx="5"/>
          </p:nvPr>
        </p:nvSpPr>
        <p:spPr>
          <a:xfrm>
            <a:off x="1115568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368C36-B023-482F-ACD6-4F7D6B193403}" type="slidenum">
              <a: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567000" y="521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Competitor analysis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585360" y="100584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Three real stores in the same niche: borrow proven patterns, differentiate on simplicity and breadth.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10675800" y="191880"/>
            <a:ext cx="891000" cy="264960"/>
          </a:xfrm>
          <a:prstGeom prst="roundRect">
            <a:avLst>
              <a:gd name="adj" fmla="val 27586"/>
            </a:avLst>
          </a:prstGeom>
          <a:solidFill>
            <a:srgbClr val="111B2D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6" name="Text 3"/>
          <p:cNvSpPr/>
          <p:nvPr/>
        </p:nvSpPr>
        <p:spPr>
          <a:xfrm>
            <a:off x="10741320" y="196560"/>
            <a:ext cx="759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02 / MARKET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603360" y="1545480"/>
            <a:ext cx="3638880" cy="4489200"/>
          </a:xfrm>
          <a:prstGeom prst="roundRect">
            <a:avLst>
              <a:gd name="adj" fmla="val 3015"/>
            </a:avLst>
          </a:prstGeom>
          <a:solidFill>
            <a:srgbClr val="111B2D"/>
          </a:solidFill>
          <a:ln w="8255">
            <a:solidFill>
              <a:srgbClr val="2B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8" name="Shape 5"/>
          <p:cNvSpPr/>
          <p:nvPr/>
        </p:nvSpPr>
        <p:spPr>
          <a:xfrm>
            <a:off x="603360" y="1545480"/>
            <a:ext cx="3638880" cy="63720"/>
          </a:xfrm>
          <a:prstGeom prst="rect">
            <a:avLst/>
          </a:prstGeom>
          <a:solidFill>
            <a:srgbClr val="45E0C1"/>
          </a:solidFill>
          <a:ln w="10160">
            <a:solidFill>
              <a:srgbClr val="45E0C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877680" y="1828800"/>
            <a:ext cx="520920" cy="520920"/>
          </a:xfrm>
          <a:prstGeom prst="roundRect">
            <a:avLst>
              <a:gd name="adj" fmla="val 21053"/>
            </a:avLst>
          </a:prstGeom>
          <a:solidFill>
            <a:srgbClr val="152238"/>
          </a:solidFill>
          <a:ln w="10160">
            <a:solidFill>
              <a:srgbClr val="3146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50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24200" y="1974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7"/>
          <p:cNvSpPr/>
          <p:nvPr/>
        </p:nvSpPr>
        <p:spPr>
          <a:xfrm>
            <a:off x="1517760" y="183780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PC Garage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1527120" y="2148840"/>
            <a:ext cx="2011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pc="119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ROMANIA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9"/>
          <p:cNvSpPr/>
          <p:nvPr/>
        </p:nvSpPr>
        <p:spPr>
          <a:xfrm>
            <a:off x="877680" y="2569320"/>
            <a:ext cx="3072240" cy="360"/>
          </a:xfrm>
          <a:prstGeom prst="line">
            <a:avLst/>
          </a:prstGeom>
          <a:ln w="889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887040" y="2788920"/>
            <a:ext cx="749520" cy="264960"/>
          </a:xfrm>
          <a:prstGeom prst="roundRect">
            <a:avLst>
              <a:gd name="adj" fmla="val 27586"/>
            </a:avLst>
          </a:prstGeom>
          <a:solidFill>
            <a:srgbClr val="132B37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941760" y="2793600"/>
            <a:ext cx="639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ADOPT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896040" y="3191400"/>
            <a:ext cx="299880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Technical detail &amp; attribute filters: switch type, DPI and connection mode.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3"/>
          <p:cNvSpPr/>
          <p:nvPr/>
        </p:nvSpPr>
        <p:spPr>
          <a:xfrm>
            <a:off x="886680" y="4169520"/>
            <a:ext cx="3063240" cy="360"/>
          </a:xfrm>
          <a:prstGeom prst="line">
            <a:avLst/>
          </a:prstGeom>
          <a:ln w="889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887040" y="4389120"/>
            <a:ext cx="141696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9" name="Text 15"/>
          <p:cNvSpPr/>
          <p:nvPr/>
        </p:nvSpPr>
        <p:spPr>
          <a:xfrm>
            <a:off x="941760" y="4393800"/>
            <a:ext cx="13071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DO DIFFERENTLY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896040" y="4782240"/>
            <a:ext cx="299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DD6E4"/>
                </a:solidFill>
                <a:effectLst/>
                <a:uFillTx/>
                <a:latin typeface="Aptos"/>
                <a:ea typeface="Aptos"/>
              </a:rPr>
              <a:t>A calm, uncluttered UI without aggressive promo banners; a more intuitive checkout.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7"/>
          <p:cNvSpPr/>
          <p:nvPr/>
        </p:nvSpPr>
        <p:spPr>
          <a:xfrm>
            <a:off x="4471560" y="1545480"/>
            <a:ext cx="3638880" cy="4489200"/>
          </a:xfrm>
          <a:prstGeom prst="roundRect">
            <a:avLst>
              <a:gd name="adj" fmla="val 3015"/>
            </a:avLst>
          </a:prstGeom>
          <a:solidFill>
            <a:srgbClr val="111B2D"/>
          </a:solidFill>
          <a:ln w="8255">
            <a:solidFill>
              <a:srgbClr val="2B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2" name="Shape 18"/>
          <p:cNvSpPr/>
          <p:nvPr/>
        </p:nvSpPr>
        <p:spPr>
          <a:xfrm>
            <a:off x="4471560" y="1545480"/>
            <a:ext cx="3638880" cy="63720"/>
          </a:xfrm>
          <a:prstGeom prst="rect">
            <a:avLst/>
          </a:prstGeom>
          <a:solidFill>
            <a:srgbClr val="6C9EFF"/>
          </a:solidFill>
          <a:ln w="10160">
            <a:solidFill>
              <a:srgbClr val="6C9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4745880" y="1828800"/>
            <a:ext cx="520920" cy="520920"/>
          </a:xfrm>
          <a:prstGeom prst="roundRect">
            <a:avLst>
              <a:gd name="adj" fmla="val 21053"/>
            </a:avLst>
          </a:prstGeom>
          <a:solidFill>
            <a:srgbClr val="152238"/>
          </a:solidFill>
          <a:ln w="10160">
            <a:solidFill>
              <a:srgbClr val="3146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64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892040" y="1974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20"/>
          <p:cNvSpPr/>
          <p:nvPr/>
        </p:nvSpPr>
        <p:spPr>
          <a:xfrm>
            <a:off x="5385960" y="183780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QwertyKey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1"/>
          <p:cNvSpPr/>
          <p:nvPr/>
        </p:nvSpPr>
        <p:spPr>
          <a:xfrm>
            <a:off x="5394960" y="2148840"/>
            <a:ext cx="2011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pc="119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ROMANIA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2"/>
          <p:cNvSpPr/>
          <p:nvPr/>
        </p:nvSpPr>
        <p:spPr>
          <a:xfrm>
            <a:off x="4745520" y="2569320"/>
            <a:ext cx="3072600" cy="360"/>
          </a:xfrm>
          <a:prstGeom prst="line">
            <a:avLst/>
          </a:prstGeom>
          <a:ln w="889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8" name="Shape 23"/>
          <p:cNvSpPr/>
          <p:nvPr/>
        </p:nvSpPr>
        <p:spPr>
          <a:xfrm>
            <a:off x="4754880" y="2788920"/>
            <a:ext cx="749520" cy="264960"/>
          </a:xfrm>
          <a:prstGeom prst="roundRect">
            <a:avLst>
              <a:gd name="adj" fmla="val 27586"/>
            </a:avLst>
          </a:prstGeom>
          <a:solidFill>
            <a:srgbClr val="132B37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9" name="Text 24"/>
          <p:cNvSpPr/>
          <p:nvPr/>
        </p:nvSpPr>
        <p:spPr>
          <a:xfrm>
            <a:off x="4809600" y="2793600"/>
            <a:ext cx="639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ADOPT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5"/>
          <p:cNvSpPr/>
          <p:nvPr/>
        </p:nvSpPr>
        <p:spPr>
          <a:xfrm>
            <a:off x="4763880" y="3191400"/>
            <a:ext cx="299880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Clean product showcases and transparent stock-availability indicators.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6"/>
          <p:cNvSpPr/>
          <p:nvPr/>
        </p:nvSpPr>
        <p:spPr>
          <a:xfrm>
            <a:off x="4754880" y="4169520"/>
            <a:ext cx="3063240" cy="360"/>
          </a:xfrm>
          <a:prstGeom prst="line">
            <a:avLst/>
          </a:prstGeom>
          <a:ln w="889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2" name="Shape 27"/>
          <p:cNvSpPr/>
          <p:nvPr/>
        </p:nvSpPr>
        <p:spPr>
          <a:xfrm>
            <a:off x="4754880" y="4389120"/>
            <a:ext cx="141696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3" name="Text 28"/>
          <p:cNvSpPr/>
          <p:nvPr/>
        </p:nvSpPr>
        <p:spPr>
          <a:xfrm>
            <a:off x="4809600" y="4393800"/>
            <a:ext cx="13071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DO DIFFERENTLY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9"/>
          <p:cNvSpPr/>
          <p:nvPr/>
        </p:nvSpPr>
        <p:spPr>
          <a:xfrm>
            <a:off x="4763880" y="4782240"/>
            <a:ext cx="299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DD6E4"/>
                </a:solidFill>
                <a:effectLst/>
                <a:uFillTx/>
                <a:latin typeface="Aptos"/>
                <a:ea typeface="Aptos"/>
              </a:rPr>
              <a:t>A complete desk setup in one order: keyboards, mice, pads and chairs.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0"/>
          <p:cNvSpPr/>
          <p:nvPr/>
        </p:nvSpPr>
        <p:spPr>
          <a:xfrm>
            <a:off x="8339400" y="1545480"/>
            <a:ext cx="3638880" cy="4489200"/>
          </a:xfrm>
          <a:prstGeom prst="roundRect">
            <a:avLst>
              <a:gd name="adj" fmla="val 3015"/>
            </a:avLst>
          </a:prstGeom>
          <a:solidFill>
            <a:srgbClr val="111B2D"/>
          </a:solidFill>
          <a:ln w="8255">
            <a:solidFill>
              <a:srgbClr val="2B3F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6" name="Shape 31"/>
          <p:cNvSpPr/>
          <p:nvPr/>
        </p:nvSpPr>
        <p:spPr>
          <a:xfrm>
            <a:off x="8339400" y="1545480"/>
            <a:ext cx="3638880" cy="63720"/>
          </a:xfrm>
          <a:prstGeom prst="rect">
            <a:avLst/>
          </a:prstGeom>
          <a:solidFill>
            <a:srgbClr val="FFB86B"/>
          </a:solidFill>
          <a:ln w="10160">
            <a:solidFill>
              <a:srgbClr val="FFB8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7" name="Shape 32"/>
          <p:cNvSpPr/>
          <p:nvPr/>
        </p:nvSpPr>
        <p:spPr>
          <a:xfrm>
            <a:off x="8613720" y="1828800"/>
            <a:ext cx="520920" cy="520920"/>
          </a:xfrm>
          <a:prstGeom prst="roundRect">
            <a:avLst>
              <a:gd name="adj" fmla="val 21053"/>
            </a:avLst>
          </a:prstGeom>
          <a:solidFill>
            <a:srgbClr val="152238"/>
          </a:solidFill>
          <a:ln w="10160">
            <a:solidFill>
              <a:srgbClr val="3146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8" name="Text 33"/>
          <p:cNvSpPr/>
          <p:nvPr/>
        </p:nvSpPr>
        <p:spPr>
          <a:xfrm>
            <a:off x="9253800" y="183780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Secretlab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4"/>
          <p:cNvSpPr/>
          <p:nvPr/>
        </p:nvSpPr>
        <p:spPr>
          <a:xfrm>
            <a:off x="9262800" y="2148840"/>
            <a:ext cx="2011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pc="119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INTERNATIONAL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5"/>
          <p:cNvSpPr/>
          <p:nvPr/>
        </p:nvSpPr>
        <p:spPr>
          <a:xfrm>
            <a:off x="8613360" y="2569320"/>
            <a:ext cx="3072600" cy="360"/>
          </a:xfrm>
          <a:prstGeom prst="line">
            <a:avLst/>
          </a:prstGeom>
          <a:ln w="889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1" name="Shape 36"/>
          <p:cNvSpPr/>
          <p:nvPr/>
        </p:nvSpPr>
        <p:spPr>
          <a:xfrm>
            <a:off x="8622720" y="2788920"/>
            <a:ext cx="749520" cy="264960"/>
          </a:xfrm>
          <a:prstGeom prst="roundRect">
            <a:avLst>
              <a:gd name="adj" fmla="val 27586"/>
            </a:avLst>
          </a:prstGeom>
          <a:solidFill>
            <a:srgbClr val="132B37"/>
          </a:solidFill>
          <a:ln w="8890">
            <a:solidFill>
              <a:srgbClr val="FFB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2" name="Text 37"/>
          <p:cNvSpPr/>
          <p:nvPr/>
        </p:nvSpPr>
        <p:spPr>
          <a:xfrm>
            <a:off x="8677800" y="2793600"/>
            <a:ext cx="639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ADOPT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8"/>
          <p:cNvSpPr/>
          <p:nvPr/>
        </p:nvSpPr>
        <p:spPr>
          <a:xfrm>
            <a:off x="8632080" y="3191400"/>
            <a:ext cx="299880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Clear ergonomic explanations and material-quality breakdowns on product pages.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9"/>
          <p:cNvSpPr/>
          <p:nvPr/>
        </p:nvSpPr>
        <p:spPr>
          <a:xfrm>
            <a:off x="8622720" y="4169520"/>
            <a:ext cx="3063240" cy="360"/>
          </a:xfrm>
          <a:prstGeom prst="line">
            <a:avLst/>
          </a:prstGeom>
          <a:ln w="889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5" name="Shape 40"/>
          <p:cNvSpPr/>
          <p:nvPr/>
        </p:nvSpPr>
        <p:spPr>
          <a:xfrm>
            <a:off x="8622720" y="4389120"/>
            <a:ext cx="141696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FFB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6" name="Text 41"/>
          <p:cNvSpPr/>
          <p:nvPr/>
        </p:nvSpPr>
        <p:spPr>
          <a:xfrm>
            <a:off x="8677800" y="4393800"/>
            <a:ext cx="13071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DO DIFFERENTLY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2"/>
          <p:cNvSpPr/>
          <p:nvPr/>
        </p:nvSpPr>
        <p:spPr>
          <a:xfrm>
            <a:off x="8632080" y="4782240"/>
            <a:ext cx="299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DD6E4"/>
                </a:solidFill>
                <a:effectLst/>
                <a:uFillTx/>
                <a:latin typeface="Aptos"/>
                <a:ea typeface="Aptos"/>
              </a:rPr>
              <a:t>A custom-built admin backend for agile fulfilment and instant stock tracking.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3"/>
          <p:cNvSpPr/>
          <p:nvPr/>
        </p:nvSpPr>
        <p:spPr>
          <a:xfrm>
            <a:off x="658440" y="61081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Positioning: technical confidence + ergonomic context + a quieter, easier buying journey.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sldNum" idx="6"/>
          </p:nvPr>
        </p:nvSpPr>
        <p:spPr>
          <a:xfrm>
            <a:off x="1115568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2AF7A9-B70D-4B4A-A5D7-CC6F1E45F204}" type="slidenum">
              <a: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90" name="Picture 48" descr="image.png"/>
          <p:cNvPicPr/>
          <p:nvPr/>
        </p:nvPicPr>
        <p:blipFill>
          <a:blip r:embed="rId5"/>
          <a:stretch/>
        </p:blipFill>
        <p:spPr>
          <a:xfrm>
            <a:off x="8759880" y="1974960"/>
            <a:ext cx="228240" cy="22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567000" y="521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Technology stack &amp; rationale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585360" y="100584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A deliberately simple, custom-built stack that supports the mandatory A1–A12 requirements.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10790280" y="191880"/>
            <a:ext cx="776520" cy="264960"/>
          </a:xfrm>
          <a:prstGeom prst="roundRect">
            <a:avLst>
              <a:gd name="adj" fmla="val 27586"/>
            </a:avLst>
          </a:prstGeom>
          <a:solidFill>
            <a:srgbClr val="111B2D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10855440" y="196560"/>
            <a:ext cx="6458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03 / STACK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621720" y="1508760"/>
            <a:ext cx="10954080" cy="859320"/>
          </a:xfrm>
          <a:prstGeom prst="roundRect">
            <a:avLst>
              <a:gd name="adj" fmla="val 12766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813960" y="1673280"/>
            <a:ext cx="511560" cy="511560"/>
          </a:xfrm>
          <a:prstGeom prst="roundRect">
            <a:avLst>
              <a:gd name="adj" fmla="val 17857"/>
            </a:avLst>
          </a:prstGeom>
          <a:solidFill>
            <a:srgbClr val="152238"/>
          </a:solidFill>
          <a:ln w="10160">
            <a:solidFill>
              <a:srgbClr val="334A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9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60120" y="18198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6"/>
          <p:cNvSpPr/>
          <p:nvPr/>
        </p:nvSpPr>
        <p:spPr>
          <a:xfrm>
            <a:off x="1554480" y="164592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1" u="none" spc="119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FRONTEND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1554480" y="184716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Bootstrap 5 + Bootstrap Icons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4709160" y="1673280"/>
            <a:ext cx="53305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Mobile-first responsive layout with accessible, reusable components and no separate client-framework build complexity.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9"/>
          <p:cNvSpPr/>
          <p:nvPr/>
        </p:nvSpPr>
        <p:spPr>
          <a:xfrm>
            <a:off x="10305360" y="1801440"/>
            <a:ext cx="93240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10360080" y="1806120"/>
            <a:ext cx="822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A11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1"/>
          <p:cNvSpPr/>
          <p:nvPr/>
        </p:nvSpPr>
        <p:spPr>
          <a:xfrm>
            <a:off x="621720" y="2532960"/>
            <a:ext cx="10954080" cy="859320"/>
          </a:xfrm>
          <a:prstGeom prst="roundRect">
            <a:avLst>
              <a:gd name="adj" fmla="val 12766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813960" y="2697480"/>
            <a:ext cx="511560" cy="511560"/>
          </a:xfrm>
          <a:prstGeom prst="roundRect">
            <a:avLst>
              <a:gd name="adj" fmla="val 17857"/>
            </a:avLst>
          </a:prstGeom>
          <a:solidFill>
            <a:srgbClr val="152238"/>
          </a:solidFill>
          <a:ln w="10160">
            <a:solidFill>
              <a:srgbClr val="334A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0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60120" y="28436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13"/>
          <p:cNvSpPr/>
          <p:nvPr/>
        </p:nvSpPr>
        <p:spPr>
          <a:xfrm>
            <a:off x="1554480" y="267012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1" u="none" spc="119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BACKEND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1554480" y="287136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ASP.NET Core (.NET 10)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4709160" y="2697480"/>
            <a:ext cx="53305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A strongly typed, high-throughput web backend with server-side validation, antiforgery protection and authentication support.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6"/>
          <p:cNvSpPr/>
          <p:nvPr/>
        </p:nvSpPr>
        <p:spPr>
          <a:xfrm>
            <a:off x="10305360" y="2825640"/>
            <a:ext cx="93240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10360080" y="2829960"/>
            <a:ext cx="822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A4 · A10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8"/>
          <p:cNvSpPr/>
          <p:nvPr/>
        </p:nvSpPr>
        <p:spPr>
          <a:xfrm>
            <a:off x="621720" y="3557160"/>
            <a:ext cx="10954080" cy="859320"/>
          </a:xfrm>
          <a:prstGeom prst="roundRect">
            <a:avLst>
              <a:gd name="adj" fmla="val 12766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2" name="Shape 19"/>
          <p:cNvSpPr/>
          <p:nvPr/>
        </p:nvSpPr>
        <p:spPr>
          <a:xfrm>
            <a:off x="813960" y="3721680"/>
            <a:ext cx="511560" cy="511560"/>
          </a:xfrm>
          <a:prstGeom prst="roundRect">
            <a:avLst>
              <a:gd name="adj" fmla="val 17857"/>
            </a:avLst>
          </a:prstGeom>
          <a:solidFill>
            <a:srgbClr val="152238"/>
          </a:solidFill>
          <a:ln w="10160">
            <a:solidFill>
              <a:srgbClr val="334A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13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60120" y="38678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20"/>
          <p:cNvSpPr/>
          <p:nvPr/>
        </p:nvSpPr>
        <p:spPr>
          <a:xfrm>
            <a:off x="1554480" y="369432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1" u="none" spc="119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DATABASE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1"/>
          <p:cNvSpPr/>
          <p:nvPr/>
        </p:nvSpPr>
        <p:spPr>
          <a:xfrm>
            <a:off x="1554480" y="389520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SQLite + Entity Framework Core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2"/>
          <p:cNvSpPr/>
          <p:nvPr/>
        </p:nvSpPr>
        <p:spPr>
          <a:xfrm>
            <a:off x="4709160" y="3721680"/>
            <a:ext cx="53305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A lightweight relational store with migrations and straightforward local setup, well suited to deterministic seed data.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3"/>
          <p:cNvSpPr/>
          <p:nvPr/>
        </p:nvSpPr>
        <p:spPr>
          <a:xfrm>
            <a:off x="10305360" y="3849480"/>
            <a:ext cx="93240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FFB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8" name="Text 24"/>
          <p:cNvSpPr/>
          <p:nvPr/>
        </p:nvSpPr>
        <p:spPr>
          <a:xfrm>
            <a:off x="10360080" y="3854160"/>
            <a:ext cx="822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A1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5"/>
          <p:cNvSpPr/>
          <p:nvPr/>
        </p:nvSpPr>
        <p:spPr>
          <a:xfrm>
            <a:off x="621720" y="4581000"/>
            <a:ext cx="10954080" cy="859320"/>
          </a:xfrm>
          <a:prstGeom prst="roundRect">
            <a:avLst>
              <a:gd name="adj" fmla="val 12766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0" name="Shape 26"/>
          <p:cNvSpPr/>
          <p:nvPr/>
        </p:nvSpPr>
        <p:spPr>
          <a:xfrm>
            <a:off x="813960" y="4745880"/>
            <a:ext cx="511560" cy="511560"/>
          </a:xfrm>
          <a:prstGeom prst="roundRect">
            <a:avLst>
              <a:gd name="adj" fmla="val 17857"/>
            </a:avLst>
          </a:prstGeom>
          <a:solidFill>
            <a:srgbClr val="152238"/>
          </a:solidFill>
          <a:ln w="10160">
            <a:solidFill>
              <a:srgbClr val="334A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2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60120" y="48920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ext 27"/>
          <p:cNvSpPr/>
          <p:nvPr/>
        </p:nvSpPr>
        <p:spPr>
          <a:xfrm>
            <a:off x="1554480" y="471816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1" u="none" spc="119" strike="noStrike">
                <a:solidFill>
                  <a:srgbClr val="FF7D9B"/>
                </a:solidFill>
                <a:effectLst/>
                <a:uFillTx/>
                <a:latin typeface="Aptos"/>
                <a:ea typeface="Aptos"/>
              </a:rPr>
              <a:t>PAYMENTS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8"/>
          <p:cNvSpPr/>
          <p:nvPr/>
        </p:nvSpPr>
        <p:spPr>
          <a:xfrm>
            <a:off x="1554480" y="491940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Stripe — Test Mode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9"/>
          <p:cNvSpPr/>
          <p:nvPr/>
        </p:nvSpPr>
        <p:spPr>
          <a:xfrm>
            <a:off x="4709160" y="4745880"/>
            <a:ext cx="53305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Enables safe sandbox card testing, with order status changed to Paid only after a verified server-side webhook.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30"/>
          <p:cNvSpPr/>
          <p:nvPr/>
        </p:nvSpPr>
        <p:spPr>
          <a:xfrm>
            <a:off x="10305360" y="4873680"/>
            <a:ext cx="93240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FF7D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6" name="Text 31"/>
          <p:cNvSpPr/>
          <p:nvPr/>
        </p:nvSpPr>
        <p:spPr>
          <a:xfrm>
            <a:off x="10360080" y="4878360"/>
            <a:ext cx="822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7D9B"/>
                </a:solidFill>
                <a:effectLst/>
                <a:uFillTx/>
                <a:latin typeface="Aptos"/>
                <a:ea typeface="Aptos"/>
              </a:rPr>
              <a:t>A6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2"/>
          <p:cNvSpPr/>
          <p:nvPr/>
        </p:nvSpPr>
        <p:spPr>
          <a:xfrm>
            <a:off x="621720" y="5687640"/>
            <a:ext cx="10954080" cy="447840"/>
          </a:xfrm>
          <a:prstGeom prst="roundRect">
            <a:avLst>
              <a:gd name="adj" fmla="val 24490"/>
            </a:avLst>
          </a:prstGeom>
          <a:solidFill>
            <a:srgbClr val="172838"/>
          </a:solidFill>
          <a:ln w="8255">
            <a:solidFill>
              <a:srgbClr val="3E5D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28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50320" y="580644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33"/>
          <p:cNvSpPr/>
          <p:nvPr/>
        </p:nvSpPr>
        <p:spPr>
          <a:xfrm>
            <a:off x="1170360" y="575172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A4 implementation note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4"/>
          <p:cNvSpPr/>
          <p:nvPr/>
        </p:nvSpPr>
        <p:spPr>
          <a:xfrm>
            <a:off x="2761560" y="5751720"/>
            <a:ext cx="84121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6DFEA"/>
                </a:solidFill>
                <a:effectLst/>
                <a:uFillTx/>
                <a:latin typeface="Aptos"/>
                <a:ea typeface="Aptos"/>
              </a:rPr>
              <a:t>The spec explicitly requires bcrypt or Argon2 password storage; configure Identity to meet that criterion.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sldNum" idx="7"/>
          </p:nvPr>
        </p:nvSpPr>
        <p:spPr>
          <a:xfrm>
            <a:off x="1115568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CBFD77-5F4C-4571-8E77-809BC4D72EDD}" type="slidenum">
              <a: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/>
          <p:nvPr/>
        </p:nvSpPr>
        <p:spPr>
          <a:xfrm>
            <a:off x="567000" y="521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High-level architecture &amp; repository setup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585360" y="100584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Monolithic ASP.NET Core application, layered for clear ownership and easy local execution.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"/>
          <p:cNvSpPr/>
          <p:nvPr/>
        </p:nvSpPr>
        <p:spPr>
          <a:xfrm>
            <a:off x="10371240" y="191880"/>
            <a:ext cx="1195560" cy="264960"/>
          </a:xfrm>
          <a:prstGeom prst="roundRect">
            <a:avLst>
              <a:gd name="adj" fmla="val 27586"/>
            </a:avLst>
          </a:prstGeom>
          <a:solidFill>
            <a:srgbClr val="111B2D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5" name="Text 3"/>
          <p:cNvSpPr/>
          <p:nvPr/>
        </p:nvSpPr>
        <p:spPr>
          <a:xfrm>
            <a:off x="10436400" y="196560"/>
            <a:ext cx="1064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04 / ARCHITECTURE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4"/>
          <p:cNvSpPr/>
          <p:nvPr/>
        </p:nvSpPr>
        <p:spPr>
          <a:xfrm>
            <a:off x="603360" y="1490400"/>
            <a:ext cx="6729480" cy="4544280"/>
          </a:xfrm>
          <a:prstGeom prst="roundRect">
            <a:avLst>
              <a:gd name="adj" fmla="val 2414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7" name="Text 5"/>
          <p:cNvSpPr/>
          <p:nvPr/>
        </p:nvSpPr>
        <p:spPr>
          <a:xfrm>
            <a:off x="877680" y="1719000"/>
            <a:ext cx="23770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11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REQUEST / DATA FLOW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6"/>
          <p:cNvSpPr/>
          <p:nvPr/>
        </p:nvSpPr>
        <p:spPr>
          <a:xfrm>
            <a:off x="877680" y="2221920"/>
            <a:ext cx="1298160" cy="822600"/>
          </a:xfrm>
          <a:prstGeom prst="roundRect">
            <a:avLst>
              <a:gd name="adj" fmla="val 11111"/>
            </a:avLst>
          </a:prstGeom>
          <a:solidFill>
            <a:srgbClr val="152238"/>
          </a:solidFill>
          <a:ln w="1016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9" name="Text 7"/>
          <p:cNvSpPr/>
          <p:nvPr/>
        </p:nvSpPr>
        <p:spPr>
          <a:xfrm>
            <a:off x="951120" y="2386440"/>
            <a:ext cx="11516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Bootstrap UI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8"/>
          <p:cNvSpPr/>
          <p:nvPr/>
        </p:nvSpPr>
        <p:spPr>
          <a:xfrm>
            <a:off x="932760" y="266076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Customer / Admin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9"/>
          <p:cNvSpPr/>
          <p:nvPr/>
        </p:nvSpPr>
        <p:spPr>
          <a:xfrm>
            <a:off x="2194560" y="2633400"/>
            <a:ext cx="210240" cy="360"/>
          </a:xfrm>
          <a:prstGeom prst="line">
            <a:avLst/>
          </a:prstGeom>
          <a:ln w="12700">
            <a:solidFill>
              <a:srgbClr val="829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4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505600" y="2551320"/>
            <a:ext cx="145800" cy="14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Shape 10"/>
          <p:cNvSpPr/>
          <p:nvPr/>
        </p:nvSpPr>
        <p:spPr>
          <a:xfrm>
            <a:off x="2459880" y="2221920"/>
            <a:ext cx="1298160" cy="822600"/>
          </a:xfrm>
          <a:prstGeom prst="roundRect">
            <a:avLst>
              <a:gd name="adj" fmla="val 11111"/>
            </a:avLst>
          </a:prstGeom>
          <a:solidFill>
            <a:srgbClr val="152238"/>
          </a:solidFill>
          <a:ln w="1016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2532960" y="2386440"/>
            <a:ext cx="11516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Controllers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2"/>
          <p:cNvSpPr/>
          <p:nvPr/>
        </p:nvSpPr>
        <p:spPr>
          <a:xfrm>
            <a:off x="2514600" y="266076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HTTP + validation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3"/>
          <p:cNvSpPr/>
          <p:nvPr/>
        </p:nvSpPr>
        <p:spPr>
          <a:xfrm>
            <a:off x="3776400" y="2633400"/>
            <a:ext cx="210240" cy="360"/>
          </a:xfrm>
          <a:prstGeom prst="line">
            <a:avLst/>
          </a:prstGeom>
          <a:ln w="12700">
            <a:solidFill>
              <a:srgbClr val="829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47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087440" y="2551320"/>
            <a:ext cx="145800" cy="14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Shape 14"/>
          <p:cNvSpPr/>
          <p:nvPr/>
        </p:nvSpPr>
        <p:spPr>
          <a:xfrm>
            <a:off x="4041720" y="2221920"/>
            <a:ext cx="1298160" cy="822600"/>
          </a:xfrm>
          <a:prstGeom prst="roundRect">
            <a:avLst>
              <a:gd name="adj" fmla="val 11111"/>
            </a:avLst>
          </a:prstGeom>
          <a:solidFill>
            <a:srgbClr val="152238"/>
          </a:solidFill>
          <a:ln w="10160">
            <a:solidFill>
              <a:srgbClr val="FFB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9" name="Text 15"/>
          <p:cNvSpPr/>
          <p:nvPr/>
        </p:nvSpPr>
        <p:spPr>
          <a:xfrm>
            <a:off x="4114800" y="2386440"/>
            <a:ext cx="11516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Service layer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6"/>
          <p:cNvSpPr/>
          <p:nvPr/>
        </p:nvSpPr>
        <p:spPr>
          <a:xfrm>
            <a:off x="4096440" y="266076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Business rules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7"/>
          <p:cNvSpPr/>
          <p:nvPr/>
        </p:nvSpPr>
        <p:spPr>
          <a:xfrm>
            <a:off x="5358240" y="2633400"/>
            <a:ext cx="210240" cy="360"/>
          </a:xfrm>
          <a:prstGeom prst="line">
            <a:avLst/>
          </a:prstGeom>
          <a:ln w="12700">
            <a:solidFill>
              <a:srgbClr val="829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52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669280" y="2551320"/>
            <a:ext cx="145800" cy="14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Shape 18"/>
          <p:cNvSpPr/>
          <p:nvPr/>
        </p:nvSpPr>
        <p:spPr>
          <a:xfrm>
            <a:off x="5623560" y="2221920"/>
            <a:ext cx="1298160" cy="822600"/>
          </a:xfrm>
          <a:prstGeom prst="roundRect">
            <a:avLst>
              <a:gd name="adj" fmla="val 11111"/>
            </a:avLst>
          </a:prstGeom>
          <a:solidFill>
            <a:srgbClr val="152238"/>
          </a:solidFill>
          <a:ln w="10160">
            <a:solidFill>
              <a:srgbClr val="FF7D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4" name="Text 19"/>
          <p:cNvSpPr/>
          <p:nvPr/>
        </p:nvSpPr>
        <p:spPr>
          <a:xfrm>
            <a:off x="5696640" y="2386440"/>
            <a:ext cx="11516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EF Core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5678280" y="266076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Models + queries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3"/>
          <p:cNvSpPr/>
          <p:nvPr/>
        </p:nvSpPr>
        <p:spPr>
          <a:xfrm>
            <a:off x="3822120" y="3675960"/>
            <a:ext cx="1865160" cy="722160"/>
          </a:xfrm>
          <a:prstGeom prst="roundRect">
            <a:avLst>
              <a:gd name="adj" fmla="val 11392"/>
            </a:avLst>
          </a:prstGeom>
          <a:solidFill>
            <a:srgbClr val="1C2A3F"/>
          </a:solidFill>
          <a:ln w="10160">
            <a:solidFill>
              <a:srgbClr val="4B62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57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041720" y="39045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24"/>
          <p:cNvSpPr/>
          <p:nvPr/>
        </p:nvSpPr>
        <p:spPr>
          <a:xfrm>
            <a:off x="4343400" y="3822120"/>
            <a:ext cx="1170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SQLite database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5"/>
          <p:cNvSpPr/>
          <p:nvPr/>
        </p:nvSpPr>
        <p:spPr>
          <a:xfrm>
            <a:off x="4343400" y="4041720"/>
            <a:ext cx="1142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Migrations + seed script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6"/>
          <p:cNvSpPr/>
          <p:nvPr/>
        </p:nvSpPr>
        <p:spPr>
          <a:xfrm>
            <a:off x="887040" y="3675960"/>
            <a:ext cx="2258280" cy="722160"/>
          </a:xfrm>
          <a:prstGeom prst="roundRect">
            <a:avLst>
              <a:gd name="adj" fmla="val 11392"/>
            </a:avLst>
          </a:prstGeom>
          <a:solidFill>
            <a:srgbClr val="1C2A3F"/>
          </a:solidFill>
          <a:ln w="10160">
            <a:solidFill>
              <a:srgbClr val="4B62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61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088280" y="39045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27"/>
          <p:cNvSpPr/>
          <p:nvPr/>
        </p:nvSpPr>
        <p:spPr>
          <a:xfrm>
            <a:off x="1389960" y="3822120"/>
            <a:ext cx="1444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Stripe test mode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8"/>
          <p:cNvSpPr/>
          <p:nvPr/>
        </p:nvSpPr>
        <p:spPr>
          <a:xfrm>
            <a:off x="1389960" y="404172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Checkout + verified webhook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9"/>
          <p:cNvSpPr/>
          <p:nvPr/>
        </p:nvSpPr>
        <p:spPr>
          <a:xfrm>
            <a:off x="896040" y="4773240"/>
            <a:ext cx="170964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5" name="Text 30"/>
          <p:cNvSpPr/>
          <p:nvPr/>
        </p:nvSpPr>
        <p:spPr>
          <a:xfrm>
            <a:off x="951120" y="4777920"/>
            <a:ext cx="15998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CUSTOM ADMIN PORTAL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1"/>
          <p:cNvSpPr/>
          <p:nvPr/>
        </p:nvSpPr>
        <p:spPr>
          <a:xfrm>
            <a:off x="2734200" y="4773240"/>
            <a:ext cx="209376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FFB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7" name="Text 32"/>
          <p:cNvSpPr/>
          <p:nvPr/>
        </p:nvSpPr>
        <p:spPr>
          <a:xfrm>
            <a:off x="2788920" y="4777920"/>
            <a:ext cx="1983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SERVICE-LED BUSINESS LOGIC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33"/>
          <p:cNvSpPr/>
          <p:nvPr/>
        </p:nvSpPr>
        <p:spPr>
          <a:xfrm>
            <a:off x="4956120" y="4773240"/>
            <a:ext cx="129816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FF7D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9" name="Text 34"/>
          <p:cNvSpPr/>
          <p:nvPr/>
        </p:nvSpPr>
        <p:spPr>
          <a:xfrm>
            <a:off x="5010840" y="4777920"/>
            <a:ext cx="11883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7D9B"/>
                </a:solidFill>
                <a:effectLst/>
                <a:uFillTx/>
                <a:latin typeface="Aptos"/>
                <a:ea typeface="Aptos"/>
              </a:rPr>
              <a:t>RELATIONAL DATA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5"/>
          <p:cNvSpPr/>
          <p:nvPr/>
        </p:nvSpPr>
        <p:spPr>
          <a:xfrm>
            <a:off x="896040" y="5312520"/>
            <a:ext cx="5943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One deployable application; clear internal layers instead of a separate client API stack.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36"/>
          <p:cNvSpPr/>
          <p:nvPr/>
        </p:nvSpPr>
        <p:spPr>
          <a:xfrm>
            <a:off x="7580520" y="1490400"/>
            <a:ext cx="3995640" cy="4544280"/>
          </a:xfrm>
          <a:prstGeom prst="roundRect">
            <a:avLst>
              <a:gd name="adj" fmla="val 2746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72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7882200" y="17740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37"/>
          <p:cNvSpPr/>
          <p:nvPr/>
        </p:nvSpPr>
        <p:spPr>
          <a:xfrm>
            <a:off x="8247960" y="17463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GitHub workflow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8"/>
          <p:cNvSpPr/>
          <p:nvPr/>
        </p:nvSpPr>
        <p:spPr>
          <a:xfrm>
            <a:off x="7909560" y="2359080"/>
            <a:ext cx="63720" cy="63720"/>
          </a:xfrm>
          <a:prstGeom prst="roundRect">
            <a:avLst>
              <a:gd name="adj" fmla="val 42857"/>
            </a:avLst>
          </a:prstGeom>
          <a:solidFill>
            <a:srgbClr val="45E0C1"/>
          </a:solidFill>
          <a:ln w="10160">
            <a:solidFill>
              <a:srgbClr val="45E0C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5" name="Text 39"/>
          <p:cNvSpPr/>
          <p:nvPr/>
        </p:nvSpPr>
        <p:spPr>
          <a:xfrm>
            <a:off x="8065080" y="2240280"/>
            <a:ext cx="30902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Protect main; build in feature branches.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0"/>
          <p:cNvSpPr/>
          <p:nvPr/>
        </p:nvSpPr>
        <p:spPr>
          <a:xfrm>
            <a:off x="7909560" y="2743200"/>
            <a:ext cx="63720" cy="63720"/>
          </a:xfrm>
          <a:prstGeom prst="roundRect">
            <a:avLst>
              <a:gd name="adj" fmla="val 42857"/>
            </a:avLst>
          </a:prstGeom>
          <a:solidFill>
            <a:srgbClr val="45E0C1"/>
          </a:solidFill>
          <a:ln w="10160">
            <a:solidFill>
              <a:srgbClr val="45E0C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7" name="Text 41"/>
          <p:cNvSpPr/>
          <p:nvPr/>
        </p:nvSpPr>
        <p:spPr>
          <a:xfrm>
            <a:off x="8065080" y="2624400"/>
            <a:ext cx="30902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Examples: feature/cart, feature/auth.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42"/>
          <p:cNvSpPr/>
          <p:nvPr/>
        </p:nvSpPr>
        <p:spPr>
          <a:xfrm>
            <a:off x="7909560" y="3127320"/>
            <a:ext cx="63720" cy="63720"/>
          </a:xfrm>
          <a:prstGeom prst="roundRect">
            <a:avLst>
              <a:gd name="adj" fmla="val 42857"/>
            </a:avLst>
          </a:prstGeom>
          <a:solidFill>
            <a:srgbClr val="45E0C1"/>
          </a:solidFill>
          <a:ln w="10160">
            <a:solidFill>
              <a:srgbClr val="45E0C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9" name="Text 43"/>
          <p:cNvSpPr/>
          <p:nvPr/>
        </p:nvSpPr>
        <p:spPr>
          <a:xfrm>
            <a:off x="8065080" y="3008520"/>
            <a:ext cx="30902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Review pull requests; tag milestone releases.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4"/>
          <p:cNvSpPr/>
          <p:nvPr/>
        </p:nvSpPr>
        <p:spPr>
          <a:xfrm>
            <a:off x="7900200" y="3474720"/>
            <a:ext cx="3282840" cy="360"/>
          </a:xfrm>
          <a:prstGeom prst="line">
            <a:avLst/>
          </a:prstGeom>
          <a:ln w="889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81" name="Image 6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7900560" y="369432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Text 45"/>
          <p:cNvSpPr/>
          <p:nvPr/>
        </p:nvSpPr>
        <p:spPr>
          <a:xfrm>
            <a:off x="8220600" y="3657600"/>
            <a:ext cx="24685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Local execution</a:t>
            </a:r>
            <a:endParaRPr lang="en-US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46"/>
          <p:cNvSpPr/>
          <p:nvPr/>
        </p:nvSpPr>
        <p:spPr>
          <a:xfrm>
            <a:off x="7918560" y="395028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README-guided start in ≤5 commands; use dotnet run.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Image 7" descr="preencoded.png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7900560" y="45630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 47"/>
          <p:cNvSpPr/>
          <p:nvPr/>
        </p:nvSpPr>
        <p:spPr>
          <a:xfrm>
            <a:off x="8220600" y="4535280"/>
            <a:ext cx="26056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Secrets &amp; environment</a:t>
            </a:r>
            <a:endParaRPr lang="en-US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8"/>
          <p:cNvSpPr/>
          <p:nvPr/>
        </p:nvSpPr>
        <p:spPr>
          <a:xfrm>
            <a:off x="7918560" y="4827960"/>
            <a:ext cx="32914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Keep keys in local .env / appsettings.Development.json; commit only a sanitized .env.example.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1"/>
          <p:cNvSpPr>
            <a:spLocks noGrp="1"/>
          </p:cNvSpPr>
          <p:nvPr>
            <p:ph type="sldNum" idx="8"/>
          </p:nvPr>
        </p:nvSpPr>
        <p:spPr>
          <a:xfrm>
            <a:off x="1115568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90FDDC-0C1C-4CD7-A2B4-C2E017232108}" type="slidenum">
              <a: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rPr>
              <a:t>5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88" name="Connector 58"/>
          <p:cNvCxnSpPr/>
          <p:nvPr/>
        </p:nvCxnSpPr>
        <p:spPr>
          <a:xfrm>
            <a:off x="6272640" y="3044880"/>
            <a:ext cx="360" cy="411840"/>
          </a:xfrm>
          <a:prstGeom prst="straightConnector1">
            <a:avLst/>
          </a:prstGeom>
          <a:ln w="18415">
            <a:solidFill>
              <a:srgbClr val="8290A7"/>
            </a:solidFill>
          </a:ln>
        </p:spPr>
      </p:cxnSp>
      <p:cxnSp>
        <p:nvCxnSpPr>
          <p:cNvPr id="289" name="Connector 59"/>
          <p:cNvCxnSpPr/>
          <p:nvPr/>
        </p:nvCxnSpPr>
        <p:spPr>
          <a:xfrm>
            <a:off x="4754880" y="3456360"/>
            <a:ext cx="1518120" cy="360"/>
          </a:xfrm>
          <a:prstGeom prst="straightConnector1">
            <a:avLst/>
          </a:prstGeom>
          <a:ln w="18415">
            <a:solidFill>
              <a:srgbClr val="8290A7"/>
            </a:solidFill>
          </a:ln>
        </p:spPr>
      </p:cxnSp>
      <p:cxnSp>
        <p:nvCxnSpPr>
          <p:cNvPr id="290" name="Connector 60"/>
          <p:cNvCxnSpPr/>
          <p:nvPr/>
        </p:nvCxnSpPr>
        <p:spPr>
          <a:xfrm>
            <a:off x="4754880" y="3456360"/>
            <a:ext cx="360" cy="155880"/>
          </a:xfrm>
          <a:prstGeom prst="straightConnector1">
            <a:avLst/>
          </a:prstGeom>
          <a:ln w="18415">
            <a:solidFill>
              <a:srgbClr val="8290A7"/>
            </a:solidFill>
          </a:ln>
        </p:spPr>
      </p:cxnSp>
      <p:sp>
        <p:nvSpPr>
          <p:cNvPr id="291" name="Isosceles Triangle 61"/>
          <p:cNvSpPr/>
          <p:nvPr/>
        </p:nvSpPr>
        <p:spPr>
          <a:xfrm rot="10800000">
            <a:off x="4691160" y="3612240"/>
            <a:ext cx="127800" cy="63720"/>
          </a:xfrm>
          <a:prstGeom prst="triangle">
            <a:avLst>
              <a:gd name="adj" fmla="val 50000"/>
            </a:avLst>
          </a:prstGeom>
          <a:solidFill>
            <a:srgbClr val="829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92" name="Connector 62"/>
          <p:cNvCxnSpPr/>
          <p:nvPr/>
        </p:nvCxnSpPr>
        <p:spPr>
          <a:xfrm>
            <a:off x="4251960" y="3044880"/>
            <a:ext cx="360" cy="219600"/>
          </a:xfrm>
          <a:prstGeom prst="straightConnector1">
            <a:avLst/>
          </a:prstGeom>
          <a:ln w="17145">
            <a:solidFill>
              <a:srgbClr val="8290A7"/>
            </a:solidFill>
          </a:ln>
        </p:spPr>
      </p:cxnSp>
      <p:cxnSp>
        <p:nvCxnSpPr>
          <p:cNvPr id="293" name="Connector 63"/>
          <p:cNvCxnSpPr/>
          <p:nvPr/>
        </p:nvCxnSpPr>
        <p:spPr>
          <a:xfrm>
            <a:off x="2834640" y="3264120"/>
            <a:ext cx="1417680" cy="360"/>
          </a:xfrm>
          <a:prstGeom prst="straightConnector1">
            <a:avLst/>
          </a:prstGeom>
          <a:ln w="17145">
            <a:solidFill>
              <a:srgbClr val="8290A7"/>
            </a:solidFill>
          </a:ln>
        </p:spPr>
      </p:cxnSp>
      <p:cxnSp>
        <p:nvCxnSpPr>
          <p:cNvPr id="294" name="Connector 64"/>
          <p:cNvCxnSpPr/>
          <p:nvPr/>
        </p:nvCxnSpPr>
        <p:spPr>
          <a:xfrm>
            <a:off x="2834640" y="3264120"/>
            <a:ext cx="360" cy="348120"/>
          </a:xfrm>
          <a:prstGeom prst="straightConnector1">
            <a:avLst/>
          </a:prstGeom>
          <a:ln w="17145">
            <a:solidFill>
              <a:srgbClr val="8290A7"/>
            </a:solidFill>
          </a:ln>
        </p:spPr>
      </p:cxnSp>
      <p:sp>
        <p:nvSpPr>
          <p:cNvPr id="295" name="Isosceles Triangle 65"/>
          <p:cNvSpPr/>
          <p:nvPr/>
        </p:nvSpPr>
        <p:spPr>
          <a:xfrm rot="10800000">
            <a:off x="2770920" y="3612240"/>
            <a:ext cx="127800" cy="63720"/>
          </a:xfrm>
          <a:prstGeom prst="triangle">
            <a:avLst>
              <a:gd name="adj" fmla="val 50000"/>
            </a:avLst>
          </a:prstGeom>
          <a:solidFill>
            <a:srgbClr val="829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6" name="TextBox 66"/>
          <p:cNvSpPr/>
          <p:nvPr/>
        </p:nvSpPr>
        <p:spPr>
          <a:xfrm>
            <a:off x="3044880" y="3095280"/>
            <a:ext cx="109692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620" b="1" u="none" strike="noStrike">
                <a:solidFill>
                  <a:srgbClr val="FFB86B"/>
                </a:solidFill>
                <a:effectLst/>
                <a:uFillTx/>
                <a:latin typeface="Aptos"/>
              </a:rPr>
              <a:t>CHECKOUT SESSION</a:t>
            </a:r>
            <a:endParaRPr lang="en-US" sz="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97" name="Connector 67"/>
          <p:cNvCxnSpPr/>
          <p:nvPr/>
        </p:nvCxnSpPr>
        <p:spPr>
          <a:xfrm>
            <a:off x="1371600" y="3511080"/>
            <a:ext cx="360" cy="101160"/>
          </a:xfrm>
          <a:prstGeom prst="straightConnector1">
            <a:avLst/>
          </a:prstGeom>
          <a:ln w="17145">
            <a:solidFill>
              <a:srgbClr val="8290A7"/>
            </a:solidFill>
          </a:ln>
        </p:spPr>
      </p:cxnSp>
      <p:cxnSp>
        <p:nvCxnSpPr>
          <p:cNvPr id="298" name="Connector 68"/>
          <p:cNvCxnSpPr/>
          <p:nvPr/>
        </p:nvCxnSpPr>
        <p:spPr>
          <a:xfrm>
            <a:off x="1371600" y="3511080"/>
            <a:ext cx="1115640" cy="360"/>
          </a:xfrm>
          <a:prstGeom prst="straightConnector1">
            <a:avLst/>
          </a:prstGeom>
          <a:ln w="17145">
            <a:solidFill>
              <a:srgbClr val="8290A7"/>
            </a:solidFill>
          </a:ln>
        </p:spPr>
      </p:cxnSp>
      <p:cxnSp>
        <p:nvCxnSpPr>
          <p:cNvPr id="299" name="Connector 69"/>
          <p:cNvCxnSpPr/>
          <p:nvPr/>
        </p:nvCxnSpPr>
        <p:spPr>
          <a:xfrm>
            <a:off x="2486880" y="3108960"/>
            <a:ext cx="360" cy="402480"/>
          </a:xfrm>
          <a:prstGeom prst="straightConnector1">
            <a:avLst/>
          </a:prstGeom>
          <a:ln w="17145">
            <a:solidFill>
              <a:srgbClr val="8290A7"/>
            </a:solidFill>
          </a:ln>
        </p:spPr>
      </p:cxnSp>
      <p:sp>
        <p:nvSpPr>
          <p:cNvPr id="300" name="Isosceles Triangle 70"/>
          <p:cNvSpPr/>
          <p:nvPr/>
        </p:nvSpPr>
        <p:spPr>
          <a:xfrm>
            <a:off x="2423160" y="3044880"/>
            <a:ext cx="127800" cy="63720"/>
          </a:xfrm>
          <a:prstGeom prst="triangle">
            <a:avLst>
              <a:gd name="adj" fmla="val 50000"/>
            </a:avLst>
          </a:prstGeom>
          <a:solidFill>
            <a:srgbClr val="829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1" name="TextBox 71"/>
          <p:cNvSpPr/>
          <p:nvPr/>
        </p:nvSpPr>
        <p:spPr>
          <a:xfrm>
            <a:off x="1572840" y="3374280"/>
            <a:ext cx="6764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62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WEBHOOK</a:t>
            </a:r>
            <a:endParaRPr lang="en-US" sz="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0"/>
          <p:cNvSpPr/>
          <p:nvPr/>
        </p:nvSpPr>
        <p:spPr>
          <a:xfrm>
            <a:off x="567000" y="521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Responsibility matrix: A1–A12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585360" y="100584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Every mandatory requirement has one named primary owner; A12 is shared by both team members.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"/>
          <p:cNvSpPr/>
          <p:nvPr/>
        </p:nvSpPr>
        <p:spPr>
          <a:xfrm>
            <a:off x="10470240" y="191880"/>
            <a:ext cx="1096560" cy="264960"/>
          </a:xfrm>
          <a:prstGeom prst="roundRect">
            <a:avLst>
              <a:gd name="adj" fmla="val 27586"/>
            </a:avLst>
          </a:prstGeom>
          <a:solidFill>
            <a:srgbClr val="111B2D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10535400" y="196560"/>
            <a:ext cx="96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05 / OWNERSHIP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"/>
          <p:cNvSpPr/>
          <p:nvPr/>
        </p:nvSpPr>
        <p:spPr>
          <a:xfrm>
            <a:off x="603360" y="1508760"/>
            <a:ext cx="5412960" cy="4553280"/>
          </a:xfrm>
          <a:prstGeom prst="roundRect">
            <a:avLst>
              <a:gd name="adj" fmla="val 2410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7" name="Shape 5"/>
          <p:cNvSpPr/>
          <p:nvPr/>
        </p:nvSpPr>
        <p:spPr>
          <a:xfrm>
            <a:off x="786240" y="173736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804600" y="175572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A1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1371600" y="170532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Product catalog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8"/>
          <p:cNvSpPr/>
          <p:nvPr/>
        </p:nvSpPr>
        <p:spPr>
          <a:xfrm>
            <a:off x="1371600" y="192924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Paginated listing (≤24/page), category views, product details and seed data.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9"/>
          <p:cNvSpPr/>
          <p:nvPr/>
        </p:nvSpPr>
        <p:spPr>
          <a:xfrm>
            <a:off x="4544640" y="1673280"/>
            <a:ext cx="129816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2" name="Text 10"/>
          <p:cNvSpPr/>
          <p:nvPr/>
        </p:nvSpPr>
        <p:spPr>
          <a:xfrm>
            <a:off x="4585680" y="1673280"/>
            <a:ext cx="121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Popa-Ion Andrei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1"/>
          <p:cNvSpPr/>
          <p:nvPr/>
        </p:nvSpPr>
        <p:spPr>
          <a:xfrm>
            <a:off x="795240" y="2336040"/>
            <a:ext cx="5029200" cy="360"/>
          </a:xfrm>
          <a:prstGeom prst="line">
            <a:avLst/>
          </a:prstGeom>
          <a:ln w="6985">
            <a:solidFill>
              <a:srgbClr val="2434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4" name="Shape 12"/>
          <p:cNvSpPr/>
          <p:nvPr/>
        </p:nvSpPr>
        <p:spPr>
          <a:xfrm>
            <a:off x="786240" y="245052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5" name="Text 13"/>
          <p:cNvSpPr/>
          <p:nvPr/>
        </p:nvSpPr>
        <p:spPr>
          <a:xfrm>
            <a:off x="804600" y="246888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A2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4"/>
          <p:cNvSpPr/>
          <p:nvPr/>
        </p:nvSpPr>
        <p:spPr>
          <a:xfrm>
            <a:off x="1371600" y="241848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Basic search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5"/>
          <p:cNvSpPr/>
          <p:nvPr/>
        </p:nvSpPr>
        <p:spPr>
          <a:xfrm>
            <a:off x="1371600" y="264276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Case-insensitive product-title search with a clear empty state.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6"/>
          <p:cNvSpPr/>
          <p:nvPr/>
        </p:nvSpPr>
        <p:spPr>
          <a:xfrm>
            <a:off x="4544640" y="2386440"/>
            <a:ext cx="129816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9" name="Text 17"/>
          <p:cNvSpPr/>
          <p:nvPr/>
        </p:nvSpPr>
        <p:spPr>
          <a:xfrm>
            <a:off x="4585680" y="2386440"/>
            <a:ext cx="121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Popa-Ion Andrei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8"/>
          <p:cNvSpPr/>
          <p:nvPr/>
        </p:nvSpPr>
        <p:spPr>
          <a:xfrm>
            <a:off x="795240" y="3049200"/>
            <a:ext cx="5029200" cy="360"/>
          </a:xfrm>
          <a:prstGeom prst="line">
            <a:avLst/>
          </a:prstGeom>
          <a:ln w="6985">
            <a:solidFill>
              <a:srgbClr val="2434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1" name="Shape 19"/>
          <p:cNvSpPr/>
          <p:nvPr/>
        </p:nvSpPr>
        <p:spPr>
          <a:xfrm>
            <a:off x="786240" y="316368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2" name="Text 20"/>
          <p:cNvSpPr/>
          <p:nvPr/>
        </p:nvSpPr>
        <p:spPr>
          <a:xfrm>
            <a:off x="804600" y="318204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A3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1"/>
          <p:cNvSpPr/>
          <p:nvPr/>
        </p:nvSpPr>
        <p:spPr>
          <a:xfrm>
            <a:off x="1371600" y="313200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Shopping cart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2"/>
          <p:cNvSpPr/>
          <p:nvPr/>
        </p:nvSpPr>
        <p:spPr>
          <a:xfrm>
            <a:off x="1371600" y="335592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Server-calculated totals, stock-boundary checks and cart persistence.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3"/>
          <p:cNvSpPr/>
          <p:nvPr/>
        </p:nvSpPr>
        <p:spPr>
          <a:xfrm>
            <a:off x="4544640" y="3099960"/>
            <a:ext cx="129816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6" name="Text 24"/>
          <p:cNvSpPr/>
          <p:nvPr/>
        </p:nvSpPr>
        <p:spPr>
          <a:xfrm>
            <a:off x="4585680" y="3099960"/>
            <a:ext cx="121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Șerban Alexandru-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Cristian-George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5"/>
          <p:cNvSpPr/>
          <p:nvPr/>
        </p:nvSpPr>
        <p:spPr>
          <a:xfrm>
            <a:off x="795240" y="3762720"/>
            <a:ext cx="5029200" cy="360"/>
          </a:xfrm>
          <a:prstGeom prst="line">
            <a:avLst/>
          </a:prstGeom>
          <a:ln w="6985">
            <a:solidFill>
              <a:srgbClr val="2434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8" name="Shape 26"/>
          <p:cNvSpPr/>
          <p:nvPr/>
        </p:nvSpPr>
        <p:spPr>
          <a:xfrm>
            <a:off x="786240" y="387720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9" name="Text 27"/>
          <p:cNvSpPr/>
          <p:nvPr/>
        </p:nvSpPr>
        <p:spPr>
          <a:xfrm>
            <a:off x="804600" y="389520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A4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8"/>
          <p:cNvSpPr/>
          <p:nvPr/>
        </p:nvSpPr>
        <p:spPr>
          <a:xfrm>
            <a:off x="1371600" y="384516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User accounts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9"/>
          <p:cNvSpPr/>
          <p:nvPr/>
        </p:nvSpPr>
        <p:spPr>
          <a:xfrm>
            <a:off x="1371600" y="406908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Registration/login, saved address and spec-compliant password hashing.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0"/>
          <p:cNvSpPr/>
          <p:nvPr/>
        </p:nvSpPr>
        <p:spPr>
          <a:xfrm>
            <a:off x="4544640" y="3813120"/>
            <a:ext cx="129816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3" name="Text 31"/>
          <p:cNvSpPr/>
          <p:nvPr/>
        </p:nvSpPr>
        <p:spPr>
          <a:xfrm>
            <a:off x="4585680" y="3813120"/>
            <a:ext cx="121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Șerban Alexandru-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Cristian-George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2"/>
          <p:cNvSpPr/>
          <p:nvPr/>
        </p:nvSpPr>
        <p:spPr>
          <a:xfrm>
            <a:off x="795240" y="4475880"/>
            <a:ext cx="5029200" cy="360"/>
          </a:xfrm>
          <a:prstGeom prst="line">
            <a:avLst/>
          </a:prstGeom>
          <a:ln w="6985">
            <a:solidFill>
              <a:srgbClr val="2434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5" name="Shape 33"/>
          <p:cNvSpPr/>
          <p:nvPr/>
        </p:nvSpPr>
        <p:spPr>
          <a:xfrm>
            <a:off x="786240" y="459036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6" name="Text 34"/>
          <p:cNvSpPr/>
          <p:nvPr/>
        </p:nvSpPr>
        <p:spPr>
          <a:xfrm>
            <a:off x="804600" y="460872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A5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5"/>
          <p:cNvSpPr/>
          <p:nvPr/>
        </p:nvSpPr>
        <p:spPr>
          <a:xfrm>
            <a:off x="1371600" y="455832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Checkout flow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6"/>
          <p:cNvSpPr/>
          <p:nvPr/>
        </p:nvSpPr>
        <p:spPr>
          <a:xfrm>
            <a:off x="1371600" y="478224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Address, 2 shipping methods, order review and confirmation.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37"/>
          <p:cNvSpPr/>
          <p:nvPr/>
        </p:nvSpPr>
        <p:spPr>
          <a:xfrm>
            <a:off x="4544640" y="4526280"/>
            <a:ext cx="129816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0" name="Text 38"/>
          <p:cNvSpPr/>
          <p:nvPr/>
        </p:nvSpPr>
        <p:spPr>
          <a:xfrm>
            <a:off x="4585680" y="4526280"/>
            <a:ext cx="121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Popa-Ion Andrei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39"/>
          <p:cNvSpPr/>
          <p:nvPr/>
        </p:nvSpPr>
        <p:spPr>
          <a:xfrm>
            <a:off x="795240" y="5189040"/>
            <a:ext cx="5029200" cy="360"/>
          </a:xfrm>
          <a:prstGeom prst="line">
            <a:avLst/>
          </a:prstGeom>
          <a:ln w="6985">
            <a:solidFill>
              <a:srgbClr val="2434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2" name="Shape 40"/>
          <p:cNvSpPr/>
          <p:nvPr/>
        </p:nvSpPr>
        <p:spPr>
          <a:xfrm>
            <a:off x="786240" y="530352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3" name="Text 41"/>
          <p:cNvSpPr/>
          <p:nvPr/>
        </p:nvSpPr>
        <p:spPr>
          <a:xfrm>
            <a:off x="804600" y="532188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A6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2"/>
          <p:cNvSpPr/>
          <p:nvPr/>
        </p:nvSpPr>
        <p:spPr>
          <a:xfrm>
            <a:off x="1371600" y="527148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Sandbox payment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3"/>
          <p:cNvSpPr/>
          <p:nvPr/>
        </p:nvSpPr>
        <p:spPr>
          <a:xfrm>
            <a:off x="1371600" y="549540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Stripe test session; verified webhook is the source of Paid status.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44"/>
          <p:cNvSpPr/>
          <p:nvPr/>
        </p:nvSpPr>
        <p:spPr>
          <a:xfrm>
            <a:off x="4544640" y="5239440"/>
            <a:ext cx="129816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7" name="Text 45"/>
          <p:cNvSpPr/>
          <p:nvPr/>
        </p:nvSpPr>
        <p:spPr>
          <a:xfrm>
            <a:off x="4585680" y="5239440"/>
            <a:ext cx="121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Șerban Alexandru-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Cristian-George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46"/>
          <p:cNvSpPr/>
          <p:nvPr/>
        </p:nvSpPr>
        <p:spPr>
          <a:xfrm>
            <a:off x="6181200" y="1508760"/>
            <a:ext cx="5412960" cy="4553280"/>
          </a:xfrm>
          <a:prstGeom prst="roundRect">
            <a:avLst>
              <a:gd name="adj" fmla="val 2410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9" name="Shape 47"/>
          <p:cNvSpPr/>
          <p:nvPr/>
        </p:nvSpPr>
        <p:spPr>
          <a:xfrm>
            <a:off x="6364080" y="173736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0" name="Text 48"/>
          <p:cNvSpPr/>
          <p:nvPr/>
        </p:nvSpPr>
        <p:spPr>
          <a:xfrm>
            <a:off x="6382440" y="175572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A7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49"/>
          <p:cNvSpPr/>
          <p:nvPr/>
        </p:nvSpPr>
        <p:spPr>
          <a:xfrm>
            <a:off x="6949440" y="170532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Stock management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0"/>
          <p:cNvSpPr/>
          <p:nvPr/>
        </p:nvSpPr>
        <p:spPr>
          <a:xfrm>
            <a:off x="6949440" y="192924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Concurrency-safe deduction on paid webhook; restock on cancellation.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51"/>
          <p:cNvSpPr/>
          <p:nvPr/>
        </p:nvSpPr>
        <p:spPr>
          <a:xfrm>
            <a:off x="10085760" y="1673280"/>
            <a:ext cx="132552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4" name="Text 52"/>
          <p:cNvSpPr/>
          <p:nvPr/>
        </p:nvSpPr>
        <p:spPr>
          <a:xfrm>
            <a:off x="10127160" y="1673280"/>
            <a:ext cx="124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Șerban Alexandru-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Cristian-George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53"/>
          <p:cNvSpPr/>
          <p:nvPr/>
        </p:nvSpPr>
        <p:spPr>
          <a:xfrm>
            <a:off x="6373080" y="2336040"/>
            <a:ext cx="5029200" cy="360"/>
          </a:xfrm>
          <a:prstGeom prst="line">
            <a:avLst/>
          </a:prstGeom>
          <a:ln w="6985">
            <a:solidFill>
              <a:srgbClr val="2434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6" name="Shape 54"/>
          <p:cNvSpPr/>
          <p:nvPr/>
        </p:nvSpPr>
        <p:spPr>
          <a:xfrm>
            <a:off x="6364080" y="245052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7" name="Text 55"/>
          <p:cNvSpPr/>
          <p:nvPr/>
        </p:nvSpPr>
        <p:spPr>
          <a:xfrm>
            <a:off x="6382440" y="246888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A8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56"/>
          <p:cNvSpPr/>
          <p:nvPr/>
        </p:nvSpPr>
        <p:spPr>
          <a:xfrm>
            <a:off x="6949440" y="241848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Order history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57"/>
          <p:cNvSpPr/>
          <p:nvPr/>
        </p:nvSpPr>
        <p:spPr>
          <a:xfrm>
            <a:off x="6949440" y="264276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Customer dashboard with past orders, line items and statuses.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58"/>
          <p:cNvSpPr/>
          <p:nvPr/>
        </p:nvSpPr>
        <p:spPr>
          <a:xfrm>
            <a:off x="10085760" y="2386440"/>
            <a:ext cx="132552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1" name="Text 59"/>
          <p:cNvSpPr/>
          <p:nvPr/>
        </p:nvSpPr>
        <p:spPr>
          <a:xfrm>
            <a:off x="10127160" y="2386440"/>
            <a:ext cx="124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Popa-Ion Andrei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60"/>
          <p:cNvSpPr/>
          <p:nvPr/>
        </p:nvSpPr>
        <p:spPr>
          <a:xfrm>
            <a:off x="6373080" y="3049200"/>
            <a:ext cx="5029200" cy="360"/>
          </a:xfrm>
          <a:prstGeom prst="line">
            <a:avLst/>
          </a:prstGeom>
          <a:ln w="6985">
            <a:solidFill>
              <a:srgbClr val="2434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3" name="Shape 61"/>
          <p:cNvSpPr/>
          <p:nvPr/>
        </p:nvSpPr>
        <p:spPr>
          <a:xfrm>
            <a:off x="6364080" y="316368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4" name="Text 62"/>
          <p:cNvSpPr/>
          <p:nvPr/>
        </p:nvSpPr>
        <p:spPr>
          <a:xfrm>
            <a:off x="6382440" y="318204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A9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3"/>
          <p:cNvSpPr/>
          <p:nvPr/>
        </p:nvSpPr>
        <p:spPr>
          <a:xfrm>
            <a:off x="6949440" y="313200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Admin panel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64"/>
          <p:cNvSpPr/>
          <p:nvPr/>
        </p:nvSpPr>
        <p:spPr>
          <a:xfrm>
            <a:off x="6949440" y="335592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Custom product/category CRUD, image upload and order transitions.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5"/>
          <p:cNvSpPr/>
          <p:nvPr/>
        </p:nvSpPr>
        <p:spPr>
          <a:xfrm>
            <a:off x="10085760" y="3099960"/>
            <a:ext cx="132552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8" name="Text 66"/>
          <p:cNvSpPr/>
          <p:nvPr/>
        </p:nvSpPr>
        <p:spPr>
          <a:xfrm>
            <a:off x="10127160" y="3099960"/>
            <a:ext cx="124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Șerban Alexandru-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Cristian-George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67"/>
          <p:cNvSpPr/>
          <p:nvPr/>
        </p:nvSpPr>
        <p:spPr>
          <a:xfrm>
            <a:off x="6373080" y="3762720"/>
            <a:ext cx="5029200" cy="360"/>
          </a:xfrm>
          <a:prstGeom prst="line">
            <a:avLst/>
          </a:prstGeom>
          <a:ln w="6985">
            <a:solidFill>
              <a:srgbClr val="2434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0" name="Shape 68"/>
          <p:cNvSpPr/>
          <p:nvPr/>
        </p:nvSpPr>
        <p:spPr>
          <a:xfrm>
            <a:off x="6364080" y="387720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1" name="Text 69"/>
          <p:cNvSpPr/>
          <p:nvPr/>
        </p:nvSpPr>
        <p:spPr>
          <a:xfrm>
            <a:off x="6382440" y="389520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A10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70"/>
          <p:cNvSpPr/>
          <p:nvPr/>
        </p:nvSpPr>
        <p:spPr>
          <a:xfrm>
            <a:off x="6949440" y="384516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Basic security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71"/>
          <p:cNvSpPr/>
          <p:nvPr/>
        </p:nvSpPr>
        <p:spPr>
          <a:xfrm>
            <a:off x="6949440" y="406908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Server validation, CSRF, EF Core parameterization and admin guards.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72"/>
          <p:cNvSpPr/>
          <p:nvPr/>
        </p:nvSpPr>
        <p:spPr>
          <a:xfrm>
            <a:off x="10085760" y="3813120"/>
            <a:ext cx="132552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5" name="Text 73"/>
          <p:cNvSpPr/>
          <p:nvPr/>
        </p:nvSpPr>
        <p:spPr>
          <a:xfrm>
            <a:off x="10127160" y="3813120"/>
            <a:ext cx="124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Șerban Alexandru-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Cristian-George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74"/>
          <p:cNvSpPr/>
          <p:nvPr/>
        </p:nvSpPr>
        <p:spPr>
          <a:xfrm>
            <a:off x="6373080" y="4475880"/>
            <a:ext cx="5029200" cy="360"/>
          </a:xfrm>
          <a:prstGeom prst="line">
            <a:avLst/>
          </a:prstGeom>
          <a:ln w="6985">
            <a:solidFill>
              <a:srgbClr val="2434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7" name="Shape 75"/>
          <p:cNvSpPr/>
          <p:nvPr/>
        </p:nvSpPr>
        <p:spPr>
          <a:xfrm>
            <a:off x="6364080" y="459036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8" name="Text 76"/>
          <p:cNvSpPr/>
          <p:nvPr/>
        </p:nvSpPr>
        <p:spPr>
          <a:xfrm>
            <a:off x="6382440" y="460872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A11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77"/>
          <p:cNvSpPr/>
          <p:nvPr/>
        </p:nvSpPr>
        <p:spPr>
          <a:xfrm>
            <a:off x="6949440" y="455832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Responsive design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78"/>
          <p:cNvSpPr/>
          <p:nvPr/>
        </p:nvSpPr>
        <p:spPr>
          <a:xfrm>
            <a:off x="6949440" y="478224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Every customer-facing page usable down to a 360 px viewport.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79"/>
          <p:cNvSpPr/>
          <p:nvPr/>
        </p:nvSpPr>
        <p:spPr>
          <a:xfrm>
            <a:off x="10085760" y="4526280"/>
            <a:ext cx="132552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2" name="Text 80"/>
          <p:cNvSpPr/>
          <p:nvPr/>
        </p:nvSpPr>
        <p:spPr>
          <a:xfrm>
            <a:off x="10127160" y="4526280"/>
            <a:ext cx="124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Popa-Ion Andrei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81"/>
          <p:cNvSpPr/>
          <p:nvPr/>
        </p:nvSpPr>
        <p:spPr>
          <a:xfrm>
            <a:off x="6373080" y="5189040"/>
            <a:ext cx="5029200" cy="360"/>
          </a:xfrm>
          <a:prstGeom prst="line">
            <a:avLst/>
          </a:prstGeom>
          <a:ln w="6985">
            <a:solidFill>
              <a:srgbClr val="2434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4" name="Shape 82"/>
          <p:cNvSpPr/>
          <p:nvPr/>
        </p:nvSpPr>
        <p:spPr>
          <a:xfrm>
            <a:off x="6364080" y="5303520"/>
            <a:ext cx="484200" cy="420120"/>
          </a:xfrm>
          <a:prstGeom prst="roundRect">
            <a:avLst>
              <a:gd name="adj" fmla="val 17391"/>
            </a:avLst>
          </a:prstGeom>
          <a:solidFill>
            <a:srgbClr val="152238"/>
          </a:solidFill>
          <a:ln w="8255">
            <a:solidFill>
              <a:srgbClr val="FFB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5" name="Text 83"/>
          <p:cNvSpPr/>
          <p:nvPr/>
        </p:nvSpPr>
        <p:spPr>
          <a:xfrm>
            <a:off x="6382440" y="5321880"/>
            <a:ext cx="447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1" u="none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A12</a:t>
            </a:r>
            <a:endParaRPr lang="en-US" sz="1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84"/>
          <p:cNvSpPr/>
          <p:nvPr/>
        </p:nvSpPr>
        <p:spPr>
          <a:xfrm>
            <a:off x="6949440" y="527148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Automated tests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85"/>
          <p:cNvSpPr/>
          <p:nvPr/>
        </p:nvSpPr>
        <p:spPr>
          <a:xfrm>
            <a:off x="6949440" y="549540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At least 10 xUnit tests for cart totals, stock logic and webhooks.</a:t>
            </a:r>
            <a:endParaRPr lang="en-US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86"/>
          <p:cNvSpPr/>
          <p:nvPr/>
        </p:nvSpPr>
        <p:spPr>
          <a:xfrm>
            <a:off x="10085760" y="5239440"/>
            <a:ext cx="1325520" cy="31968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FFB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9" name="Text 87"/>
          <p:cNvSpPr/>
          <p:nvPr/>
        </p:nvSpPr>
        <p:spPr>
          <a:xfrm>
            <a:off x="10127160" y="5239440"/>
            <a:ext cx="124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B86B"/>
                </a:solidFill>
                <a:effectLst/>
                <a:uFillTx/>
                <a:latin typeface="Aptos"/>
              </a:rPr>
              <a:t>BOTH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1"/>
          <p:cNvSpPr>
            <a:spLocks noGrp="1"/>
          </p:cNvSpPr>
          <p:nvPr>
            <p:ph type="sldNum" idx="9"/>
          </p:nvPr>
        </p:nvSpPr>
        <p:spPr>
          <a:xfrm>
            <a:off x="1115568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EC0C5F-05BE-4335-8876-AA6412DA7F65}" type="slidenum">
              <a: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 0"/>
          <p:cNvSpPr/>
          <p:nvPr/>
        </p:nvSpPr>
        <p:spPr>
          <a:xfrm>
            <a:off x="567000" y="521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F4F7FC"/>
                </a:solidFill>
                <a:effectLst/>
                <a:uFillTx/>
                <a:latin typeface="Aptos Display"/>
              </a:rPr>
              <a:t>Roadmap: Weeks 4–7 — foundation &amp; core browsing</a:t>
            </a:r>
            <a:endParaRPr lang="en-US" sz="2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"/>
          <p:cNvSpPr/>
          <p:nvPr/>
        </p:nvSpPr>
        <p:spPr>
          <a:xfrm>
            <a:off x="585360" y="100584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Build project structure, seed data, catalog, authentication and search before checkout and payment work.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"/>
          <p:cNvSpPr/>
          <p:nvPr/>
        </p:nvSpPr>
        <p:spPr>
          <a:xfrm>
            <a:off x="10569240" y="191880"/>
            <a:ext cx="997560" cy="264960"/>
          </a:xfrm>
          <a:prstGeom prst="roundRect">
            <a:avLst>
              <a:gd name="adj" fmla="val 27586"/>
            </a:avLst>
          </a:prstGeom>
          <a:solidFill>
            <a:srgbClr val="111B2D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4" name="Text 3"/>
          <p:cNvSpPr/>
          <p:nvPr/>
        </p:nvSpPr>
        <p:spPr>
          <a:xfrm>
            <a:off x="10634760" y="196560"/>
            <a:ext cx="866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06 / ROADMAP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4"/>
          <p:cNvSpPr/>
          <p:nvPr/>
        </p:nvSpPr>
        <p:spPr>
          <a:xfrm>
            <a:off x="603360" y="1618560"/>
            <a:ext cx="2669760" cy="4251600"/>
          </a:xfrm>
          <a:prstGeom prst="roundRect">
            <a:avLst>
              <a:gd name="adj" fmla="val 4110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6" name="Shape 5"/>
          <p:cNvSpPr/>
          <p:nvPr/>
        </p:nvSpPr>
        <p:spPr>
          <a:xfrm>
            <a:off x="603360" y="1618560"/>
            <a:ext cx="2669760" cy="72720"/>
          </a:xfrm>
          <a:prstGeom prst="rect">
            <a:avLst/>
          </a:prstGeom>
          <a:solidFill>
            <a:srgbClr val="45E0C1"/>
          </a:solidFill>
          <a:ln w="10160">
            <a:solidFill>
              <a:srgbClr val="45E0C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7" name="Shape 6"/>
          <p:cNvSpPr/>
          <p:nvPr/>
        </p:nvSpPr>
        <p:spPr>
          <a:xfrm>
            <a:off x="822960" y="1874520"/>
            <a:ext cx="94140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8" name="Text 7"/>
          <p:cNvSpPr/>
          <p:nvPr/>
        </p:nvSpPr>
        <p:spPr>
          <a:xfrm>
            <a:off x="877680" y="1879200"/>
            <a:ext cx="831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WEEK 4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8"/>
          <p:cNvSpPr/>
          <p:nvPr/>
        </p:nvSpPr>
        <p:spPr>
          <a:xfrm>
            <a:off x="831960" y="237744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pc="79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SETUP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9"/>
          <p:cNvSpPr/>
          <p:nvPr/>
        </p:nvSpPr>
        <p:spPr>
          <a:xfrm>
            <a:off x="831960" y="2606040"/>
            <a:ext cx="2185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Create ASP.NET Core structure.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71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Assigned: Șerban Alexandru-Cristian-George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0"/>
          <p:cNvSpPr/>
          <p:nvPr/>
        </p:nvSpPr>
        <p:spPr>
          <a:xfrm>
            <a:off x="831960" y="3236760"/>
            <a:ext cx="219456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2" name="Text 11"/>
          <p:cNvSpPr/>
          <p:nvPr/>
        </p:nvSpPr>
        <p:spPr>
          <a:xfrm>
            <a:off x="831960" y="329184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pc="79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DATA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2"/>
          <p:cNvSpPr/>
          <p:nvPr/>
        </p:nvSpPr>
        <p:spPr>
          <a:xfrm>
            <a:off x="831960" y="3520440"/>
            <a:ext cx="21852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SQLite migrations + seed script for 30 products / 4 categories.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71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Assigned: Șerban Alexandru-Cristian-George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3"/>
          <p:cNvSpPr/>
          <p:nvPr/>
        </p:nvSpPr>
        <p:spPr>
          <a:xfrm>
            <a:off x="831960" y="4269960"/>
            <a:ext cx="219456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5" name="Text 14"/>
          <p:cNvSpPr/>
          <p:nvPr/>
        </p:nvSpPr>
        <p:spPr>
          <a:xfrm>
            <a:off x="831960" y="432504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pc="79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UI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5"/>
          <p:cNvSpPr/>
          <p:nvPr/>
        </p:nvSpPr>
        <p:spPr>
          <a:xfrm>
            <a:off x="831960" y="4553640"/>
            <a:ext cx="2185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Build shared Bootstrap layout and navigation.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71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Assigned: Popa-Ion Andrei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6"/>
          <p:cNvSpPr/>
          <p:nvPr/>
        </p:nvSpPr>
        <p:spPr>
          <a:xfrm>
            <a:off x="3483720" y="1618560"/>
            <a:ext cx="2669760" cy="4251600"/>
          </a:xfrm>
          <a:prstGeom prst="roundRect">
            <a:avLst>
              <a:gd name="adj" fmla="val 4110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8" name="Shape 17"/>
          <p:cNvSpPr/>
          <p:nvPr/>
        </p:nvSpPr>
        <p:spPr>
          <a:xfrm>
            <a:off x="3483720" y="1618560"/>
            <a:ext cx="2669760" cy="72720"/>
          </a:xfrm>
          <a:prstGeom prst="rect">
            <a:avLst/>
          </a:prstGeom>
          <a:solidFill>
            <a:srgbClr val="6C9EFF"/>
          </a:solidFill>
          <a:ln w="10160">
            <a:solidFill>
              <a:srgbClr val="6C9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9" name="Shape 18"/>
          <p:cNvSpPr/>
          <p:nvPr/>
        </p:nvSpPr>
        <p:spPr>
          <a:xfrm>
            <a:off x="3703320" y="1874520"/>
            <a:ext cx="94140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0" name="Text 19"/>
          <p:cNvSpPr/>
          <p:nvPr/>
        </p:nvSpPr>
        <p:spPr>
          <a:xfrm>
            <a:off x="3758040" y="1879200"/>
            <a:ext cx="831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WEEK 5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0"/>
          <p:cNvSpPr/>
          <p:nvPr/>
        </p:nvSpPr>
        <p:spPr>
          <a:xfrm>
            <a:off x="3712320" y="237744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pc="79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A1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1"/>
          <p:cNvSpPr/>
          <p:nvPr/>
        </p:nvSpPr>
        <p:spPr>
          <a:xfrm>
            <a:off x="3712320" y="2606040"/>
            <a:ext cx="2185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Implement catalog, pagination and category views.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71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Assigned: Popa-Ion Andrei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22"/>
          <p:cNvSpPr/>
          <p:nvPr/>
        </p:nvSpPr>
        <p:spPr>
          <a:xfrm>
            <a:off x="3712320" y="3236760"/>
            <a:ext cx="219456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4" name="Text 23"/>
          <p:cNvSpPr/>
          <p:nvPr/>
        </p:nvSpPr>
        <p:spPr>
          <a:xfrm>
            <a:off x="3712320" y="329184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pc="79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A4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4"/>
          <p:cNvSpPr/>
          <p:nvPr/>
        </p:nvSpPr>
        <p:spPr>
          <a:xfrm>
            <a:off x="3712320" y="3520440"/>
            <a:ext cx="2185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Implement registration, login/logout and password hashing.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71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Assigned: Șerban Alexandru-Cristian-George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25"/>
          <p:cNvSpPr/>
          <p:nvPr/>
        </p:nvSpPr>
        <p:spPr>
          <a:xfrm>
            <a:off x="6364080" y="1618560"/>
            <a:ext cx="2669760" cy="4251600"/>
          </a:xfrm>
          <a:prstGeom prst="roundRect">
            <a:avLst>
              <a:gd name="adj" fmla="val 4110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7" name="Shape 26"/>
          <p:cNvSpPr/>
          <p:nvPr/>
        </p:nvSpPr>
        <p:spPr>
          <a:xfrm>
            <a:off x="6364080" y="1618560"/>
            <a:ext cx="2669760" cy="72720"/>
          </a:xfrm>
          <a:prstGeom prst="rect">
            <a:avLst/>
          </a:prstGeom>
          <a:solidFill>
            <a:srgbClr val="FFB86B"/>
          </a:solidFill>
          <a:ln w="10160">
            <a:solidFill>
              <a:srgbClr val="FFB8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8" name="Shape 27"/>
          <p:cNvSpPr/>
          <p:nvPr/>
        </p:nvSpPr>
        <p:spPr>
          <a:xfrm>
            <a:off x="6583680" y="1874520"/>
            <a:ext cx="94140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FFB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9" name="Text 28"/>
          <p:cNvSpPr/>
          <p:nvPr/>
        </p:nvSpPr>
        <p:spPr>
          <a:xfrm>
            <a:off x="6638400" y="1879200"/>
            <a:ext cx="831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WEEK 6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29"/>
          <p:cNvSpPr/>
          <p:nvPr/>
        </p:nvSpPr>
        <p:spPr>
          <a:xfrm>
            <a:off x="6592680" y="237744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FFB86B"/>
                </a:solidFill>
                <a:effectLst/>
                <a:uFillTx/>
                <a:latin typeface="Aptos"/>
              </a:rPr>
              <a:t>DATA MODEL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30"/>
          <p:cNvSpPr/>
          <p:nvPr/>
        </p:nvSpPr>
        <p:spPr>
          <a:xfrm>
            <a:off x="6592680" y="2606040"/>
            <a:ext cx="2185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Define product, cart, order and payment entities.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710" b="1" u="none" strike="noStrike">
                <a:solidFill>
                  <a:srgbClr val="FFB86B"/>
                </a:solidFill>
                <a:effectLst/>
                <a:uFillTx/>
                <a:latin typeface="Aptos"/>
              </a:rPr>
              <a:t>Assigned: Șerban Alexandru-Cristian-George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31"/>
          <p:cNvSpPr/>
          <p:nvPr/>
        </p:nvSpPr>
        <p:spPr>
          <a:xfrm>
            <a:off x="6592680" y="3300840"/>
            <a:ext cx="219456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3" name="Text 32"/>
          <p:cNvSpPr/>
          <p:nvPr/>
        </p:nvSpPr>
        <p:spPr>
          <a:xfrm>
            <a:off x="6592680" y="335592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pc="79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A2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33"/>
          <p:cNvSpPr/>
          <p:nvPr/>
        </p:nvSpPr>
        <p:spPr>
          <a:xfrm>
            <a:off x="6592680" y="3584520"/>
            <a:ext cx="2185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Implement case-insensitive product search.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710" b="1" u="none" strike="noStrike">
                <a:solidFill>
                  <a:srgbClr val="FFB86B"/>
                </a:solidFill>
                <a:effectLst/>
                <a:uFillTx/>
                <a:latin typeface="Aptos"/>
              </a:rPr>
              <a:t>Assigned: Popa-Ion Andrei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34"/>
          <p:cNvSpPr/>
          <p:nvPr/>
        </p:nvSpPr>
        <p:spPr>
          <a:xfrm>
            <a:off x="9244440" y="1618560"/>
            <a:ext cx="2669760" cy="4251600"/>
          </a:xfrm>
          <a:prstGeom prst="roundRect">
            <a:avLst>
              <a:gd name="adj" fmla="val 4110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6" name="Shape 35"/>
          <p:cNvSpPr/>
          <p:nvPr/>
        </p:nvSpPr>
        <p:spPr>
          <a:xfrm>
            <a:off x="9244440" y="1618560"/>
            <a:ext cx="2669760" cy="72720"/>
          </a:xfrm>
          <a:prstGeom prst="rect">
            <a:avLst/>
          </a:prstGeom>
          <a:solidFill>
            <a:srgbClr val="FF7D9B"/>
          </a:solidFill>
          <a:ln w="10160">
            <a:solidFill>
              <a:srgbClr val="FF7D9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7" name="Shape 36"/>
          <p:cNvSpPr/>
          <p:nvPr/>
        </p:nvSpPr>
        <p:spPr>
          <a:xfrm>
            <a:off x="9464040" y="1874520"/>
            <a:ext cx="94140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FF7D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8" name="Text 37"/>
          <p:cNvSpPr/>
          <p:nvPr/>
        </p:nvSpPr>
        <p:spPr>
          <a:xfrm>
            <a:off x="9518760" y="1879200"/>
            <a:ext cx="831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F7D9B"/>
                </a:solidFill>
                <a:effectLst/>
                <a:uFillTx/>
                <a:latin typeface="Aptos"/>
                <a:ea typeface="Aptos"/>
              </a:rPr>
              <a:t>WEEK 7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38"/>
          <p:cNvSpPr/>
          <p:nvPr/>
        </p:nvSpPr>
        <p:spPr>
          <a:xfrm>
            <a:off x="9473040" y="237744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FF7D9B"/>
                </a:solidFill>
                <a:effectLst/>
                <a:uFillTx/>
                <a:latin typeface="Aptos"/>
              </a:rPr>
              <a:t>INTEGRATE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39"/>
          <p:cNvSpPr/>
          <p:nvPr/>
        </p:nvSpPr>
        <p:spPr>
          <a:xfrm>
            <a:off x="9473040" y="2606040"/>
            <a:ext cx="2185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Connect the catalog to seeded SQLite data.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710" b="1" u="none" strike="noStrike">
                <a:solidFill>
                  <a:srgbClr val="FF7D9B"/>
                </a:solidFill>
                <a:effectLst/>
                <a:uFillTx/>
                <a:latin typeface="Aptos"/>
              </a:rPr>
              <a:t>Assigned: Șerban Alexandru-Cristian-George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40"/>
          <p:cNvSpPr/>
          <p:nvPr/>
        </p:nvSpPr>
        <p:spPr>
          <a:xfrm>
            <a:off x="9473040" y="3236760"/>
            <a:ext cx="219456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2" name="Text 41"/>
          <p:cNvSpPr/>
          <p:nvPr/>
        </p:nvSpPr>
        <p:spPr>
          <a:xfrm>
            <a:off x="9473040" y="329184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FF7D9B"/>
                </a:solidFill>
                <a:effectLst/>
                <a:uFillTx/>
                <a:latin typeface="Aptos"/>
              </a:rPr>
              <a:t>VALIDATE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42"/>
          <p:cNvSpPr/>
          <p:nvPr/>
        </p:nvSpPr>
        <p:spPr>
          <a:xfrm>
            <a:off x="9473040" y="3520440"/>
            <a:ext cx="218520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Check category pages, empty-search feedback and login.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710" b="1" u="none" strike="noStrike">
                <a:solidFill>
                  <a:srgbClr val="FF7D9B"/>
                </a:solidFill>
                <a:effectLst/>
                <a:uFillTx/>
                <a:latin typeface="Aptos"/>
              </a:rPr>
              <a:t>Assigned: Popa-Ion Andrei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43"/>
          <p:cNvSpPr/>
          <p:nvPr/>
        </p:nvSpPr>
        <p:spPr>
          <a:xfrm>
            <a:off x="9473040" y="4151160"/>
            <a:ext cx="219456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5" name="Text 44"/>
          <p:cNvSpPr/>
          <p:nvPr/>
        </p:nvSpPr>
        <p:spPr>
          <a:xfrm>
            <a:off x="9473040" y="420624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FF7D9B"/>
                </a:solidFill>
                <a:effectLst/>
                <a:uFillTx/>
                <a:latin typeface="Aptos"/>
              </a:rPr>
              <a:t>CHECKPOINT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45"/>
          <p:cNvSpPr/>
          <p:nvPr/>
        </p:nvSpPr>
        <p:spPr>
          <a:xfrm>
            <a:off x="9473040" y="4434840"/>
            <a:ext cx="2185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Review Weeks 4–7 progress and confirm the next build tasks.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710" b="1" u="none" strike="noStrike">
                <a:solidFill>
                  <a:srgbClr val="FF7D9B"/>
                </a:solidFill>
                <a:effectLst/>
                <a:uFillTx/>
                <a:latin typeface="Aptos"/>
              </a:rPr>
              <a:t>Assigned: Popa-Ion Andrei</a:t>
            </a:r>
            <a:endParaRPr lang="en-US" sz="7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46"/>
          <p:cNvSpPr/>
          <p:nvPr/>
        </p:nvSpPr>
        <p:spPr>
          <a:xfrm>
            <a:off x="612720" y="6007680"/>
            <a:ext cx="10954080" cy="301320"/>
          </a:xfrm>
          <a:prstGeom prst="roundRect">
            <a:avLst>
              <a:gd name="adj" fmla="val 36364"/>
            </a:avLst>
          </a:prstGeom>
          <a:solidFill>
            <a:srgbClr val="172838"/>
          </a:solidFill>
          <a:ln w="8255">
            <a:solidFill>
              <a:srgbClr val="2B59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8" name="Text 47"/>
          <p:cNvSpPr/>
          <p:nvPr/>
        </p:nvSpPr>
        <p:spPr>
          <a:xfrm>
            <a:off x="804600" y="6026040"/>
            <a:ext cx="106066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Week 7 checkpoint  •  Seeded catalog  •  Category navigation  •  Search empty state  •  Login flow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sldNum" idx="10"/>
          </p:nvPr>
        </p:nvSpPr>
        <p:spPr>
          <a:xfrm>
            <a:off x="1115568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C55972-3913-40D5-AAE4-048C53244F2A}" type="slidenum">
              <a: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 0"/>
          <p:cNvSpPr/>
          <p:nvPr/>
        </p:nvSpPr>
        <p:spPr>
          <a:xfrm>
            <a:off x="567000" y="521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Roadmap: Stage 3 — build, test &amp; deliver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"/>
          <p:cNvSpPr/>
          <p:nvPr/>
        </p:nvSpPr>
        <p:spPr>
          <a:xfrm>
            <a:off x="585360" y="100584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Weeks 8–12  •  Milestone P3: final functional delivery and live demonstration.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2"/>
          <p:cNvSpPr/>
          <p:nvPr/>
        </p:nvSpPr>
        <p:spPr>
          <a:xfrm>
            <a:off x="10569240" y="191880"/>
            <a:ext cx="997560" cy="264960"/>
          </a:xfrm>
          <a:prstGeom prst="roundRect">
            <a:avLst>
              <a:gd name="adj" fmla="val 27586"/>
            </a:avLst>
          </a:prstGeom>
          <a:solidFill>
            <a:srgbClr val="111B2D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3" name="Text 3"/>
          <p:cNvSpPr/>
          <p:nvPr/>
        </p:nvSpPr>
        <p:spPr>
          <a:xfrm>
            <a:off x="10634760" y="196560"/>
            <a:ext cx="866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07 / ROADMAP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4"/>
          <p:cNvSpPr/>
          <p:nvPr/>
        </p:nvSpPr>
        <p:spPr>
          <a:xfrm>
            <a:off x="594360" y="1636920"/>
            <a:ext cx="2139480" cy="4343040"/>
          </a:xfrm>
          <a:prstGeom prst="roundRect">
            <a:avLst>
              <a:gd name="adj" fmla="val 5128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5" name="Shape 5"/>
          <p:cNvSpPr/>
          <p:nvPr/>
        </p:nvSpPr>
        <p:spPr>
          <a:xfrm>
            <a:off x="594360" y="1636920"/>
            <a:ext cx="2139480" cy="63720"/>
          </a:xfrm>
          <a:prstGeom prst="rect">
            <a:avLst/>
          </a:prstGeom>
          <a:solidFill>
            <a:srgbClr val="45E0C1"/>
          </a:solidFill>
          <a:ln w="10160">
            <a:solidFill>
              <a:srgbClr val="45E0C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6" name="Shape 6"/>
          <p:cNvSpPr/>
          <p:nvPr/>
        </p:nvSpPr>
        <p:spPr>
          <a:xfrm>
            <a:off x="777240" y="1883520"/>
            <a:ext cx="89568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7" name="Text 7"/>
          <p:cNvSpPr/>
          <p:nvPr/>
        </p:nvSpPr>
        <p:spPr>
          <a:xfrm>
            <a:off x="831960" y="1888200"/>
            <a:ext cx="78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WEEK 8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8"/>
          <p:cNvSpPr/>
          <p:nvPr/>
        </p:nvSpPr>
        <p:spPr>
          <a:xfrm>
            <a:off x="777240" y="2395800"/>
            <a:ext cx="179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A3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9"/>
          <p:cNvSpPr/>
          <p:nvPr/>
        </p:nvSpPr>
        <p:spPr>
          <a:xfrm>
            <a:off x="777240" y="2651760"/>
            <a:ext cx="1773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Server-side cart + stock validation.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67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Assigned: Șerban Alexandru-Cristian-George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0"/>
          <p:cNvSpPr/>
          <p:nvPr/>
        </p:nvSpPr>
        <p:spPr>
          <a:xfrm>
            <a:off x="777240" y="3328200"/>
            <a:ext cx="175536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1" name="Text 11"/>
          <p:cNvSpPr/>
          <p:nvPr/>
        </p:nvSpPr>
        <p:spPr>
          <a:xfrm>
            <a:off x="777240" y="3383280"/>
            <a:ext cx="179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A5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2"/>
          <p:cNvSpPr/>
          <p:nvPr/>
        </p:nvSpPr>
        <p:spPr>
          <a:xfrm>
            <a:off x="777240" y="3639240"/>
            <a:ext cx="17737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Checkout wizard + delivery options + order summary.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680" b="1" u="none" strike="noStrike">
                <a:solidFill>
                  <a:srgbClr val="45E0C1"/>
                </a:solidFill>
                <a:effectLst/>
                <a:uFillTx/>
                <a:latin typeface="Aptos"/>
              </a:rPr>
              <a:t>Assigned: Popa-Ion Andrei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3"/>
          <p:cNvSpPr/>
          <p:nvPr/>
        </p:nvSpPr>
        <p:spPr>
          <a:xfrm>
            <a:off x="2907720" y="1636920"/>
            <a:ext cx="2139480" cy="4343040"/>
          </a:xfrm>
          <a:prstGeom prst="roundRect">
            <a:avLst>
              <a:gd name="adj" fmla="val 5128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4" name="Shape 14"/>
          <p:cNvSpPr/>
          <p:nvPr/>
        </p:nvSpPr>
        <p:spPr>
          <a:xfrm>
            <a:off x="2907720" y="1636920"/>
            <a:ext cx="2139480" cy="63720"/>
          </a:xfrm>
          <a:prstGeom prst="rect">
            <a:avLst/>
          </a:prstGeom>
          <a:solidFill>
            <a:srgbClr val="6C9EFF"/>
          </a:solidFill>
          <a:ln w="10160">
            <a:solidFill>
              <a:srgbClr val="6C9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5" name="Shape 15"/>
          <p:cNvSpPr/>
          <p:nvPr/>
        </p:nvSpPr>
        <p:spPr>
          <a:xfrm>
            <a:off x="3090600" y="1883520"/>
            <a:ext cx="89568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6" name="Text 16"/>
          <p:cNvSpPr/>
          <p:nvPr/>
        </p:nvSpPr>
        <p:spPr>
          <a:xfrm>
            <a:off x="3145680" y="1888200"/>
            <a:ext cx="78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WEEK 9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7"/>
          <p:cNvSpPr/>
          <p:nvPr/>
        </p:nvSpPr>
        <p:spPr>
          <a:xfrm>
            <a:off x="3090600" y="2395800"/>
            <a:ext cx="179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A6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8"/>
          <p:cNvSpPr/>
          <p:nvPr/>
        </p:nvSpPr>
        <p:spPr>
          <a:xfrm>
            <a:off x="3090600" y="2651760"/>
            <a:ext cx="1773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Stripe Checkout + webhook confirmation.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67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Assigned: Șerban Alexandru-Cristian-George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9"/>
          <p:cNvSpPr/>
          <p:nvPr/>
        </p:nvSpPr>
        <p:spPr>
          <a:xfrm>
            <a:off x="3090600" y="3328200"/>
            <a:ext cx="175572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60" name="Text 20"/>
          <p:cNvSpPr/>
          <p:nvPr/>
        </p:nvSpPr>
        <p:spPr>
          <a:xfrm>
            <a:off x="3090600" y="3383280"/>
            <a:ext cx="179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A7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1"/>
          <p:cNvSpPr/>
          <p:nvPr/>
        </p:nvSpPr>
        <p:spPr>
          <a:xfrm>
            <a:off x="3090600" y="3639240"/>
            <a:ext cx="17737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Concurrency-safe inventory deduction + rollback.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670" b="1" u="none" strike="noStrike">
                <a:solidFill>
                  <a:srgbClr val="6C9EFF"/>
                </a:solidFill>
                <a:effectLst/>
                <a:uFillTx/>
                <a:latin typeface="Aptos"/>
              </a:rPr>
              <a:t>Assigned: Șerban Alexandru-Cristian-George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2"/>
          <p:cNvSpPr/>
          <p:nvPr/>
        </p:nvSpPr>
        <p:spPr>
          <a:xfrm>
            <a:off x="5221080" y="1636920"/>
            <a:ext cx="2139480" cy="4343040"/>
          </a:xfrm>
          <a:prstGeom prst="roundRect">
            <a:avLst>
              <a:gd name="adj" fmla="val 5128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63" name="Shape 23"/>
          <p:cNvSpPr/>
          <p:nvPr/>
        </p:nvSpPr>
        <p:spPr>
          <a:xfrm>
            <a:off x="5221080" y="1636920"/>
            <a:ext cx="2139480" cy="63720"/>
          </a:xfrm>
          <a:prstGeom prst="rect">
            <a:avLst/>
          </a:prstGeom>
          <a:solidFill>
            <a:srgbClr val="FFB86B"/>
          </a:solidFill>
          <a:ln w="10160">
            <a:solidFill>
              <a:srgbClr val="FFB8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64" name="Shape 24"/>
          <p:cNvSpPr/>
          <p:nvPr/>
        </p:nvSpPr>
        <p:spPr>
          <a:xfrm>
            <a:off x="5403960" y="1883520"/>
            <a:ext cx="89568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FFB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65" name="Text 25"/>
          <p:cNvSpPr/>
          <p:nvPr/>
        </p:nvSpPr>
        <p:spPr>
          <a:xfrm>
            <a:off x="5459040" y="1888200"/>
            <a:ext cx="78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WEEK 10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26"/>
          <p:cNvSpPr/>
          <p:nvPr/>
        </p:nvSpPr>
        <p:spPr>
          <a:xfrm>
            <a:off x="5403960" y="2395800"/>
            <a:ext cx="179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FFB86B"/>
                </a:solidFill>
                <a:effectLst/>
                <a:uFillTx/>
                <a:latin typeface="Aptos"/>
              </a:rPr>
              <a:t>A9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27"/>
          <p:cNvSpPr/>
          <p:nvPr/>
        </p:nvSpPr>
        <p:spPr>
          <a:xfrm>
            <a:off x="5403960" y="2651760"/>
            <a:ext cx="1773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Custom admin CRUD + order management.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670" b="1" u="none" strike="noStrike">
                <a:solidFill>
                  <a:srgbClr val="FFB86B"/>
                </a:solidFill>
                <a:effectLst/>
                <a:uFillTx/>
                <a:latin typeface="Aptos"/>
              </a:rPr>
              <a:t>Assigned: Șerban Alexandru-Cristian-George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28"/>
          <p:cNvSpPr/>
          <p:nvPr/>
        </p:nvSpPr>
        <p:spPr>
          <a:xfrm>
            <a:off x="5403960" y="3328200"/>
            <a:ext cx="175572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69" name="Text 29"/>
          <p:cNvSpPr/>
          <p:nvPr/>
        </p:nvSpPr>
        <p:spPr>
          <a:xfrm>
            <a:off x="5403960" y="3383280"/>
            <a:ext cx="179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FFB86B"/>
                </a:solidFill>
                <a:effectLst/>
                <a:uFillTx/>
                <a:latin typeface="Aptos"/>
              </a:rPr>
              <a:t>A8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30"/>
          <p:cNvSpPr/>
          <p:nvPr/>
        </p:nvSpPr>
        <p:spPr>
          <a:xfrm>
            <a:off x="5403960" y="3639240"/>
            <a:ext cx="1773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Customer order history page.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680" b="1" u="none" strike="noStrike">
                <a:solidFill>
                  <a:srgbClr val="FFB86B"/>
                </a:solidFill>
                <a:effectLst/>
                <a:uFillTx/>
                <a:latin typeface="Aptos"/>
              </a:rPr>
              <a:t>Assigned: Popa-Ion Andrei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31"/>
          <p:cNvSpPr/>
          <p:nvPr/>
        </p:nvSpPr>
        <p:spPr>
          <a:xfrm>
            <a:off x="7534800" y="1636920"/>
            <a:ext cx="2139480" cy="4343040"/>
          </a:xfrm>
          <a:prstGeom prst="roundRect">
            <a:avLst>
              <a:gd name="adj" fmla="val 5128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2" name="Shape 32"/>
          <p:cNvSpPr/>
          <p:nvPr/>
        </p:nvSpPr>
        <p:spPr>
          <a:xfrm>
            <a:off x="7534800" y="1636920"/>
            <a:ext cx="2139480" cy="63720"/>
          </a:xfrm>
          <a:prstGeom prst="rect">
            <a:avLst/>
          </a:prstGeom>
          <a:solidFill>
            <a:srgbClr val="FF7D9B"/>
          </a:solidFill>
          <a:ln w="10160">
            <a:solidFill>
              <a:srgbClr val="FF7D9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3" name="Shape 33"/>
          <p:cNvSpPr/>
          <p:nvPr/>
        </p:nvSpPr>
        <p:spPr>
          <a:xfrm>
            <a:off x="7717680" y="1883520"/>
            <a:ext cx="89568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FF7D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4" name="Text 34"/>
          <p:cNvSpPr/>
          <p:nvPr/>
        </p:nvSpPr>
        <p:spPr>
          <a:xfrm>
            <a:off x="7772400" y="1888200"/>
            <a:ext cx="78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FF7D9B"/>
                </a:solidFill>
                <a:effectLst/>
                <a:uFillTx/>
                <a:latin typeface="Aptos"/>
                <a:ea typeface="Aptos"/>
              </a:rPr>
              <a:t>WEEK 11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35"/>
          <p:cNvSpPr/>
          <p:nvPr/>
        </p:nvSpPr>
        <p:spPr>
          <a:xfrm>
            <a:off x="7717680" y="2395800"/>
            <a:ext cx="179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FF7D9B"/>
                </a:solidFill>
                <a:effectLst/>
                <a:uFillTx/>
                <a:latin typeface="Aptos"/>
              </a:rPr>
              <a:t>A12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36"/>
          <p:cNvSpPr/>
          <p:nvPr/>
        </p:nvSpPr>
        <p:spPr>
          <a:xfrm>
            <a:off x="7717680" y="2651760"/>
            <a:ext cx="1773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Automate ≥10 tests; run with dotnet test.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620" b="1" u="none" strike="noStrike">
                <a:solidFill>
                  <a:srgbClr val="FF7D9B"/>
                </a:solidFill>
                <a:effectLst/>
                <a:uFillTx/>
                <a:latin typeface="Aptos"/>
              </a:rPr>
              <a:t>Assigned: Popa-Ion Andrei &amp; Șerban Alexandru-Cristian-George</a:t>
            </a:r>
            <a:endParaRPr lang="en-US" sz="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37"/>
          <p:cNvSpPr/>
          <p:nvPr/>
        </p:nvSpPr>
        <p:spPr>
          <a:xfrm>
            <a:off x="7717320" y="3410640"/>
            <a:ext cx="175572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8" name="Text 38"/>
          <p:cNvSpPr/>
          <p:nvPr/>
        </p:nvSpPr>
        <p:spPr>
          <a:xfrm>
            <a:off x="7717680" y="3465720"/>
            <a:ext cx="179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FF7D9B"/>
                </a:solidFill>
                <a:effectLst/>
                <a:uFillTx/>
                <a:latin typeface="Aptos"/>
              </a:rPr>
              <a:t>A10 / A11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39"/>
          <p:cNvSpPr/>
          <p:nvPr/>
        </p:nvSpPr>
        <p:spPr>
          <a:xfrm>
            <a:off x="7717680" y="3721680"/>
            <a:ext cx="17737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Security checks + 360 px viewport audit.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620" b="1" u="none" strike="noStrike">
                <a:solidFill>
                  <a:srgbClr val="FF7D9B"/>
                </a:solidFill>
                <a:effectLst/>
                <a:uFillTx/>
                <a:latin typeface="Aptos"/>
              </a:rPr>
              <a:t>Assigned: Popa-Ion Andrei &amp; Șerban Alexandru-Cristian-George</a:t>
            </a:r>
            <a:endParaRPr lang="en-US" sz="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40"/>
          <p:cNvSpPr/>
          <p:nvPr/>
        </p:nvSpPr>
        <p:spPr>
          <a:xfrm>
            <a:off x="9848160" y="1636920"/>
            <a:ext cx="2139480" cy="4343040"/>
          </a:xfrm>
          <a:prstGeom prst="roundRect">
            <a:avLst>
              <a:gd name="adj" fmla="val 5128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1" name="Shape 41"/>
          <p:cNvSpPr/>
          <p:nvPr/>
        </p:nvSpPr>
        <p:spPr>
          <a:xfrm>
            <a:off x="9848160" y="1636920"/>
            <a:ext cx="2139480" cy="63720"/>
          </a:xfrm>
          <a:prstGeom prst="rect">
            <a:avLst/>
          </a:prstGeom>
          <a:solidFill>
            <a:srgbClr val="C5F27A"/>
          </a:solidFill>
          <a:ln w="10160">
            <a:solidFill>
              <a:srgbClr val="C5F27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2" name="Shape 42"/>
          <p:cNvSpPr/>
          <p:nvPr/>
        </p:nvSpPr>
        <p:spPr>
          <a:xfrm>
            <a:off x="10031040" y="1883520"/>
            <a:ext cx="895680" cy="264960"/>
          </a:xfrm>
          <a:prstGeom prst="roundRect">
            <a:avLst>
              <a:gd name="adj" fmla="val 27586"/>
            </a:avLst>
          </a:prstGeom>
          <a:solidFill>
            <a:srgbClr val="182943"/>
          </a:solidFill>
          <a:ln w="8890">
            <a:solidFill>
              <a:srgbClr val="C5F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3" name="Text 43"/>
          <p:cNvSpPr/>
          <p:nvPr/>
        </p:nvSpPr>
        <p:spPr>
          <a:xfrm>
            <a:off x="10085760" y="1888200"/>
            <a:ext cx="78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C5F27A"/>
                </a:solidFill>
                <a:effectLst/>
                <a:uFillTx/>
                <a:latin typeface="Aptos"/>
                <a:ea typeface="Aptos"/>
              </a:rPr>
              <a:t>WEEK 12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44"/>
          <p:cNvSpPr/>
          <p:nvPr/>
        </p:nvSpPr>
        <p:spPr>
          <a:xfrm>
            <a:off x="10031040" y="2395800"/>
            <a:ext cx="179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C5F27A"/>
                </a:solidFill>
                <a:effectLst/>
                <a:uFillTx/>
                <a:latin typeface="Aptos"/>
                <a:ea typeface="Aptos"/>
              </a:rPr>
              <a:t>DOCS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45"/>
          <p:cNvSpPr/>
          <p:nvPr/>
        </p:nvSpPr>
        <p:spPr>
          <a:xfrm>
            <a:off x="10031040" y="2651760"/>
            <a:ext cx="1773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Finalize README and test instructions.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680" b="1" u="none" strike="noStrike">
                <a:solidFill>
                  <a:srgbClr val="C5F27A"/>
                </a:solidFill>
                <a:effectLst/>
                <a:uFillTx/>
                <a:latin typeface="Aptos"/>
              </a:rPr>
              <a:t>Assigned: Popa-Ion Andrei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46"/>
          <p:cNvSpPr/>
          <p:nvPr/>
        </p:nvSpPr>
        <p:spPr>
          <a:xfrm>
            <a:off x="10030680" y="3328200"/>
            <a:ext cx="175572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7" name="Text 47"/>
          <p:cNvSpPr/>
          <p:nvPr/>
        </p:nvSpPr>
        <p:spPr>
          <a:xfrm>
            <a:off x="10031040" y="3383280"/>
            <a:ext cx="179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C5F27A"/>
                </a:solidFill>
                <a:effectLst/>
                <a:uFillTx/>
                <a:latin typeface="Aptos"/>
                <a:ea typeface="Aptos"/>
              </a:rPr>
              <a:t>BACKUP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48"/>
          <p:cNvSpPr/>
          <p:nvPr/>
        </p:nvSpPr>
        <p:spPr>
          <a:xfrm>
            <a:off x="10031040" y="3639240"/>
            <a:ext cx="1773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Record a backup demo.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660" b="1" u="none" strike="noStrike">
                <a:solidFill>
                  <a:srgbClr val="C5F27A"/>
                </a:solidFill>
                <a:effectLst/>
                <a:uFillTx/>
                <a:latin typeface="Aptos"/>
              </a:rPr>
              <a:t>Assigned: Șerban Alexandru-Cristian-George</a:t>
            </a:r>
            <a:endParaRPr lang="en-US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49"/>
          <p:cNvSpPr/>
          <p:nvPr/>
        </p:nvSpPr>
        <p:spPr>
          <a:xfrm>
            <a:off x="10030680" y="4315680"/>
            <a:ext cx="1755720" cy="360"/>
          </a:xfrm>
          <a:prstGeom prst="line">
            <a:avLst/>
          </a:prstGeom>
          <a:ln w="6985">
            <a:solidFill>
              <a:srgbClr val="2636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0" name="Text 50"/>
          <p:cNvSpPr/>
          <p:nvPr/>
        </p:nvSpPr>
        <p:spPr>
          <a:xfrm>
            <a:off x="10031040" y="4370760"/>
            <a:ext cx="1791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C5F27A"/>
                </a:solidFill>
                <a:effectLst/>
                <a:uFillTx/>
                <a:latin typeface="Aptos"/>
                <a:ea typeface="Aptos"/>
              </a:rPr>
              <a:t>RELEASE</a:t>
            </a:r>
            <a:endParaRPr lang="en-US" sz="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51"/>
          <p:cNvSpPr/>
          <p:nvPr/>
        </p:nvSpPr>
        <p:spPr>
          <a:xfrm>
            <a:off x="10031040" y="4626720"/>
            <a:ext cx="17737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Tag P3 and submit final deliverables.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660" b="1" u="none" strike="noStrike">
                <a:solidFill>
                  <a:srgbClr val="C5F27A"/>
                </a:solidFill>
                <a:effectLst/>
                <a:uFillTx/>
                <a:latin typeface="Aptos"/>
              </a:rPr>
              <a:t>Assigned: Șerban Alexandru-Cristian-George</a:t>
            </a:r>
            <a:endParaRPr lang="en-US" sz="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52"/>
          <p:cNvSpPr/>
          <p:nvPr/>
        </p:nvSpPr>
        <p:spPr>
          <a:xfrm>
            <a:off x="704160" y="6144840"/>
            <a:ext cx="107895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P3 demo path: register → search → cart → test payment → webhook confirmation → stock decrease → admin order update.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1"/>
          <p:cNvSpPr>
            <a:spLocks noGrp="1"/>
          </p:cNvSpPr>
          <p:nvPr>
            <p:ph type="sldNum" idx="11"/>
          </p:nvPr>
        </p:nvSpPr>
        <p:spPr>
          <a:xfrm>
            <a:off x="1115568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92B847-6A83-4EEA-A1AD-6C1683339344}" type="slidenum">
              <a: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Text 0"/>
          <p:cNvSpPr/>
          <p:nvPr/>
        </p:nvSpPr>
        <p:spPr>
          <a:xfrm>
            <a:off x="567000" y="521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Risk management &amp; mitigations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"/>
          <p:cNvSpPr/>
          <p:nvPr/>
        </p:nvSpPr>
        <p:spPr>
          <a:xfrm>
            <a:off x="585360" y="100584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Three delivery risks with practical controls built into the implementation plan.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2"/>
          <p:cNvSpPr/>
          <p:nvPr/>
        </p:nvSpPr>
        <p:spPr>
          <a:xfrm>
            <a:off x="10805400" y="191880"/>
            <a:ext cx="761400" cy="264960"/>
          </a:xfrm>
          <a:prstGeom prst="roundRect">
            <a:avLst>
              <a:gd name="adj" fmla="val 27586"/>
            </a:avLst>
          </a:prstGeom>
          <a:solidFill>
            <a:srgbClr val="111B2D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7" name="Text 3"/>
          <p:cNvSpPr/>
          <p:nvPr/>
        </p:nvSpPr>
        <p:spPr>
          <a:xfrm>
            <a:off x="10870920" y="196560"/>
            <a:ext cx="630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08 / RISKS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4"/>
          <p:cNvSpPr/>
          <p:nvPr/>
        </p:nvSpPr>
        <p:spPr>
          <a:xfrm>
            <a:off x="612720" y="1536120"/>
            <a:ext cx="10954080" cy="1307160"/>
          </a:xfrm>
          <a:prstGeom prst="roundRect">
            <a:avLst>
              <a:gd name="adj" fmla="val 8392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9" name="Shape 5"/>
          <p:cNvSpPr/>
          <p:nvPr/>
        </p:nvSpPr>
        <p:spPr>
          <a:xfrm>
            <a:off x="804600" y="1737360"/>
            <a:ext cx="639720" cy="639720"/>
          </a:xfrm>
          <a:prstGeom prst="roundRect">
            <a:avLst>
              <a:gd name="adj" fmla="val 17143"/>
            </a:avLst>
          </a:prstGeom>
          <a:solidFill>
            <a:srgbClr val="152238"/>
          </a:solidFill>
          <a:ln w="10160">
            <a:solidFill>
              <a:srgbClr val="FF85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0" name="Text 6"/>
          <p:cNvSpPr/>
          <p:nvPr/>
        </p:nvSpPr>
        <p:spPr>
          <a:xfrm>
            <a:off x="822960" y="1783080"/>
            <a:ext cx="603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8585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7"/>
          <p:cNvSpPr/>
          <p:nvPr/>
        </p:nvSpPr>
        <p:spPr>
          <a:xfrm>
            <a:off x="1654920" y="1682640"/>
            <a:ext cx="2925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Inventory race conditions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8"/>
          <p:cNvSpPr/>
          <p:nvPr/>
        </p:nvSpPr>
        <p:spPr>
          <a:xfrm>
            <a:off x="1664280" y="1974960"/>
            <a:ext cx="25599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91" strike="noStrike">
                <a:solidFill>
                  <a:srgbClr val="FF8585"/>
                </a:solidFill>
                <a:effectLst/>
                <a:uFillTx/>
                <a:latin typeface="Aptos"/>
                <a:ea typeface="Aptos"/>
              </a:rPr>
              <a:t>A7 · STOCK MANAGEMENT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9"/>
          <p:cNvSpPr/>
          <p:nvPr/>
        </p:nvSpPr>
        <p:spPr>
          <a:xfrm>
            <a:off x="4892040" y="1691640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pc="79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IMPACT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0"/>
          <p:cNvSpPr/>
          <p:nvPr/>
        </p:nvSpPr>
        <p:spPr>
          <a:xfrm>
            <a:off x="4892040" y="1892880"/>
            <a:ext cx="25599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Two customers could try to buy the final unit at the same time, causing negative stock.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1"/>
          <p:cNvSpPr/>
          <p:nvPr/>
        </p:nvSpPr>
        <p:spPr>
          <a:xfrm>
            <a:off x="7662600" y="1691640"/>
            <a:ext cx="1078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pc="79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MITIGATION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2"/>
          <p:cNvSpPr/>
          <p:nvPr/>
        </p:nvSpPr>
        <p:spPr>
          <a:xfrm>
            <a:off x="7662600" y="1892880"/>
            <a:ext cx="36025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Use atomic database transactions and EF Core concurrency controls when processing the confirmed payment webhook.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13"/>
          <p:cNvSpPr/>
          <p:nvPr/>
        </p:nvSpPr>
        <p:spPr>
          <a:xfrm>
            <a:off x="612720" y="3044880"/>
            <a:ext cx="10954080" cy="1307160"/>
          </a:xfrm>
          <a:prstGeom prst="roundRect">
            <a:avLst>
              <a:gd name="adj" fmla="val 8392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8" name="Shape 14"/>
          <p:cNvSpPr/>
          <p:nvPr/>
        </p:nvSpPr>
        <p:spPr>
          <a:xfrm>
            <a:off x="804600" y="3246120"/>
            <a:ext cx="639720" cy="639720"/>
          </a:xfrm>
          <a:prstGeom prst="roundRect">
            <a:avLst>
              <a:gd name="adj" fmla="val 17143"/>
            </a:avLst>
          </a:prstGeom>
          <a:solidFill>
            <a:srgbClr val="152238"/>
          </a:solidFill>
          <a:ln w="10160">
            <a:solidFill>
              <a:srgbClr val="FFB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9" name="Text 15"/>
          <p:cNvSpPr/>
          <p:nvPr/>
        </p:nvSpPr>
        <p:spPr>
          <a:xfrm>
            <a:off x="822960" y="3291840"/>
            <a:ext cx="603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B86B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6"/>
          <p:cNvSpPr/>
          <p:nvPr/>
        </p:nvSpPr>
        <p:spPr>
          <a:xfrm>
            <a:off x="1654920" y="3191400"/>
            <a:ext cx="2925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Stripe webhook delivery fails locally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7"/>
          <p:cNvSpPr/>
          <p:nvPr/>
        </p:nvSpPr>
        <p:spPr>
          <a:xfrm>
            <a:off x="1664280" y="3483720"/>
            <a:ext cx="25599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91" strike="noStrike">
                <a:solidFill>
                  <a:srgbClr val="FFB86B"/>
                </a:solidFill>
                <a:effectLst/>
                <a:uFillTx/>
                <a:latin typeface="Aptos"/>
                <a:ea typeface="Aptos"/>
              </a:rPr>
              <a:t>A6 · SANDBOX PAYMENT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8"/>
          <p:cNvSpPr/>
          <p:nvPr/>
        </p:nvSpPr>
        <p:spPr>
          <a:xfrm>
            <a:off x="4892040" y="3200400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pc="79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IMPACT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9"/>
          <p:cNvSpPr/>
          <p:nvPr/>
        </p:nvSpPr>
        <p:spPr>
          <a:xfrm>
            <a:off x="4892040" y="3401640"/>
            <a:ext cx="25599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Orders may remain Unpaid if Stripe cannot reach the local development machine.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20"/>
          <p:cNvSpPr/>
          <p:nvPr/>
        </p:nvSpPr>
        <p:spPr>
          <a:xfrm>
            <a:off x="7662600" y="3200400"/>
            <a:ext cx="1078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pc="79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MITIGATION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21"/>
          <p:cNvSpPr/>
          <p:nvPr/>
        </p:nvSpPr>
        <p:spPr>
          <a:xfrm>
            <a:off x="7662600" y="3401640"/>
            <a:ext cx="3602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Use the official Stripe CLI from Week 8 to forward events to the local webhook endpoint.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2"/>
          <p:cNvSpPr/>
          <p:nvPr/>
        </p:nvSpPr>
        <p:spPr>
          <a:xfrm>
            <a:off x="7662600" y="3886200"/>
            <a:ext cx="3565800" cy="246600"/>
          </a:xfrm>
          <a:prstGeom prst="roundRect">
            <a:avLst>
              <a:gd name="adj" fmla="val 14815"/>
            </a:avLst>
          </a:prstGeom>
          <a:solidFill>
            <a:srgbClr val="0B1423"/>
          </a:solidFill>
          <a:ln w="6985">
            <a:solidFill>
              <a:srgbClr val="3547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7" name="Text 23"/>
          <p:cNvSpPr/>
          <p:nvPr/>
        </p:nvSpPr>
        <p:spPr>
          <a:xfrm>
            <a:off x="7754040" y="3904560"/>
            <a:ext cx="3391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stripe listen --forward-to localhost:5000/api/webhook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24"/>
          <p:cNvSpPr/>
          <p:nvPr/>
        </p:nvSpPr>
        <p:spPr>
          <a:xfrm>
            <a:off x="612720" y="4553640"/>
            <a:ext cx="10954080" cy="1307160"/>
          </a:xfrm>
          <a:prstGeom prst="roundRect">
            <a:avLst>
              <a:gd name="adj" fmla="val 8392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9" name="Shape 25"/>
          <p:cNvSpPr/>
          <p:nvPr/>
        </p:nvSpPr>
        <p:spPr>
          <a:xfrm>
            <a:off x="804600" y="4754880"/>
            <a:ext cx="639720" cy="639720"/>
          </a:xfrm>
          <a:prstGeom prst="roundRect">
            <a:avLst>
              <a:gd name="adj" fmla="val 17143"/>
            </a:avLst>
          </a:prstGeom>
          <a:solidFill>
            <a:srgbClr val="152238"/>
          </a:solidFill>
          <a:ln w="1016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0" name="Text 26"/>
          <p:cNvSpPr/>
          <p:nvPr/>
        </p:nvSpPr>
        <p:spPr>
          <a:xfrm>
            <a:off x="822960" y="4800600"/>
            <a:ext cx="603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6C9EFF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27"/>
          <p:cNvSpPr/>
          <p:nvPr/>
        </p:nvSpPr>
        <p:spPr>
          <a:xfrm>
            <a:off x="1654920" y="4700160"/>
            <a:ext cx="2925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Scope creep delays testing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8"/>
          <p:cNvSpPr/>
          <p:nvPr/>
        </p:nvSpPr>
        <p:spPr>
          <a:xfrm>
            <a:off x="1664280" y="4992480"/>
            <a:ext cx="25599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91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A12 · AUTOMATED TESTS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9"/>
          <p:cNvSpPr/>
          <p:nvPr/>
        </p:nvSpPr>
        <p:spPr>
          <a:xfrm>
            <a:off x="4892040" y="4709160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pc="79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IMPACT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30"/>
          <p:cNvSpPr/>
          <p:nvPr/>
        </p:nvSpPr>
        <p:spPr>
          <a:xfrm>
            <a:off x="4892040" y="4910400"/>
            <a:ext cx="25599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The required 10 tests may be incomplete or fail during the live assessment.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31"/>
          <p:cNvSpPr/>
          <p:nvPr/>
        </p:nvSpPr>
        <p:spPr>
          <a:xfrm>
            <a:off x="7662600" y="4709160"/>
            <a:ext cx="1078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pc="79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MITIGATION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32"/>
          <p:cNvSpPr/>
          <p:nvPr/>
        </p:nvSpPr>
        <p:spPr>
          <a:xfrm>
            <a:off x="7662600" y="4910400"/>
            <a:ext cx="36025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Write xUnit tests alongside the cart and order-processing services instead of postponing testing until Week 11.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33"/>
          <p:cNvSpPr/>
          <p:nvPr/>
        </p:nvSpPr>
        <p:spPr>
          <a:xfrm>
            <a:off x="786240" y="6190560"/>
            <a:ext cx="10606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i="1" u="none" strike="noStrike">
                <a:solidFill>
                  <a:srgbClr val="AAB6C9"/>
                </a:solidFill>
                <a:effectLst/>
                <a:uFillTx/>
                <a:latin typeface="Aptos"/>
                <a:ea typeface="Aptos"/>
              </a:rPr>
              <a:t>Risk ownership is shared across delivery: build observability and tests while the relevant feature is being implemented.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1"/>
          <p:cNvSpPr>
            <a:spLocks noGrp="1"/>
          </p:cNvSpPr>
          <p:nvPr>
            <p:ph type="sldNum" idx="12"/>
          </p:nvPr>
        </p:nvSpPr>
        <p:spPr>
          <a:xfrm>
            <a:off x="1115568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DE85CF-A0A3-4719-8398-0002094A7DBC}" type="slidenum">
              <a: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Text 0"/>
          <p:cNvSpPr/>
          <p:nvPr/>
        </p:nvSpPr>
        <p:spPr>
          <a:xfrm>
            <a:off x="567000" y="521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4F7FC"/>
                </a:solidFill>
                <a:effectLst/>
                <a:uFillTx/>
                <a:latin typeface="Aptos Display"/>
                <a:ea typeface="Aptos Display"/>
              </a:rPr>
              <a:t>Deliverables checklist &amp; next steps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"/>
          <p:cNvSpPr/>
          <p:nvPr/>
        </p:nvSpPr>
        <p:spPr>
          <a:xfrm>
            <a:off x="585360" y="100584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A submission-ready repository with a clear path from foundation work to final delivery.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"/>
          <p:cNvSpPr/>
          <p:nvPr/>
        </p:nvSpPr>
        <p:spPr>
          <a:xfrm>
            <a:off x="10790280" y="191880"/>
            <a:ext cx="776520" cy="264960"/>
          </a:xfrm>
          <a:prstGeom prst="roundRect">
            <a:avLst>
              <a:gd name="adj" fmla="val 27586"/>
            </a:avLst>
          </a:prstGeom>
          <a:solidFill>
            <a:srgbClr val="111B2D"/>
          </a:solidFill>
          <a:ln w="8890">
            <a:solidFill>
              <a:srgbClr val="6C9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2" name="Text 3"/>
          <p:cNvSpPr/>
          <p:nvPr/>
        </p:nvSpPr>
        <p:spPr>
          <a:xfrm>
            <a:off x="10855440" y="196560"/>
            <a:ext cx="6458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6C9EFF"/>
                </a:solidFill>
                <a:effectLst/>
                <a:uFillTx/>
                <a:latin typeface="Aptos"/>
                <a:ea typeface="Aptos"/>
              </a:rPr>
              <a:t>09 / CLOSE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4"/>
          <p:cNvSpPr/>
          <p:nvPr/>
        </p:nvSpPr>
        <p:spPr>
          <a:xfrm>
            <a:off x="621720" y="1536120"/>
            <a:ext cx="6620040" cy="4498560"/>
          </a:xfrm>
          <a:prstGeom prst="roundRect">
            <a:avLst>
              <a:gd name="adj" fmla="val 2439"/>
            </a:avLst>
          </a:prstGeom>
          <a:solidFill>
            <a:srgbClr val="111B2D"/>
          </a:solidFill>
          <a:ln w="8255">
            <a:solidFill>
              <a:srgbClr val="2A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4" name="Text 5"/>
          <p:cNvSpPr/>
          <p:nvPr/>
        </p:nvSpPr>
        <p:spPr>
          <a:xfrm>
            <a:off x="923400" y="1810440"/>
            <a:ext cx="2834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19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P1 READINESS CHECKLIST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6"/>
          <p:cNvSpPr/>
          <p:nvPr/>
        </p:nvSpPr>
        <p:spPr>
          <a:xfrm>
            <a:off x="923400" y="2221920"/>
            <a:ext cx="255600" cy="255600"/>
          </a:xfrm>
          <a:prstGeom prst="roundRect">
            <a:avLst>
              <a:gd name="adj" fmla="val 21429"/>
            </a:avLst>
          </a:prstGeom>
          <a:solidFill>
            <a:srgbClr val="123A38"/>
          </a:solidFill>
          <a:ln w="1016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36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92160" y="2286000"/>
            <a:ext cx="118440" cy="11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Text 7"/>
          <p:cNvSpPr/>
          <p:nvPr/>
        </p:nvSpPr>
        <p:spPr>
          <a:xfrm>
            <a:off x="1353240" y="2185560"/>
            <a:ext cx="5449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GitHub repository created; teaching staff added as collaborators.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8"/>
          <p:cNvSpPr/>
          <p:nvPr/>
        </p:nvSpPr>
        <p:spPr>
          <a:xfrm>
            <a:off x="923400" y="2770560"/>
            <a:ext cx="255600" cy="255600"/>
          </a:xfrm>
          <a:prstGeom prst="roundRect">
            <a:avLst>
              <a:gd name="adj" fmla="val 21429"/>
            </a:avLst>
          </a:prstGeom>
          <a:solidFill>
            <a:srgbClr val="123A38"/>
          </a:solidFill>
          <a:ln w="1016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39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92160" y="2834640"/>
            <a:ext cx="118440" cy="11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Text 9"/>
          <p:cNvSpPr/>
          <p:nvPr/>
        </p:nvSpPr>
        <p:spPr>
          <a:xfrm>
            <a:off x="1353240" y="2734200"/>
            <a:ext cx="5449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Initial README committed with setup, run and environment instructions.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0"/>
          <p:cNvSpPr/>
          <p:nvPr/>
        </p:nvSpPr>
        <p:spPr>
          <a:xfrm>
            <a:off x="923400" y="3319200"/>
            <a:ext cx="255600" cy="255600"/>
          </a:xfrm>
          <a:prstGeom prst="roundRect">
            <a:avLst>
              <a:gd name="adj" fmla="val 21429"/>
            </a:avLst>
          </a:prstGeom>
          <a:solidFill>
            <a:srgbClr val="123A38"/>
          </a:solidFill>
          <a:ln w="1016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42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92160" y="3383280"/>
            <a:ext cx="118440" cy="11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3" name="Text 11"/>
          <p:cNvSpPr/>
          <p:nvPr/>
        </p:nvSpPr>
        <p:spPr>
          <a:xfrm>
            <a:off x="1353240" y="3282840"/>
            <a:ext cx="5449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A sanitized .env.example is tracked; secrets and Stripe test keys stay local.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12"/>
          <p:cNvSpPr/>
          <p:nvPr/>
        </p:nvSpPr>
        <p:spPr>
          <a:xfrm>
            <a:off x="923400" y="3867840"/>
            <a:ext cx="255600" cy="255600"/>
          </a:xfrm>
          <a:prstGeom prst="roundRect">
            <a:avLst>
              <a:gd name="adj" fmla="val 21429"/>
            </a:avLst>
          </a:prstGeom>
          <a:solidFill>
            <a:srgbClr val="123A38"/>
          </a:solidFill>
          <a:ln w="1016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45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92160" y="3931920"/>
            <a:ext cx="118440" cy="11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Text 13"/>
          <p:cNvSpPr/>
          <p:nvPr/>
        </p:nvSpPr>
        <p:spPr>
          <a:xfrm>
            <a:off x="1353240" y="3831480"/>
            <a:ext cx="5449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Each student commits their own work so contribution is visible in history.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4"/>
          <p:cNvSpPr/>
          <p:nvPr/>
        </p:nvSpPr>
        <p:spPr>
          <a:xfrm>
            <a:off x="923400" y="4416480"/>
            <a:ext cx="255600" cy="255600"/>
          </a:xfrm>
          <a:prstGeom prst="roundRect">
            <a:avLst>
              <a:gd name="adj" fmla="val 21429"/>
            </a:avLst>
          </a:prstGeom>
          <a:solidFill>
            <a:srgbClr val="123A38"/>
          </a:solidFill>
          <a:ln w="1016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48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992160" y="4480560"/>
            <a:ext cx="118440" cy="11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Text 15"/>
          <p:cNvSpPr/>
          <p:nvPr/>
        </p:nvSpPr>
        <p:spPr>
          <a:xfrm>
            <a:off x="1353240" y="4380120"/>
            <a:ext cx="5449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P1 commit tagged and slides/repository link submitted at least 24 hours before defense.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6"/>
          <p:cNvSpPr/>
          <p:nvPr/>
        </p:nvSpPr>
        <p:spPr>
          <a:xfrm>
            <a:off x="923400" y="4965120"/>
            <a:ext cx="255600" cy="255600"/>
          </a:xfrm>
          <a:prstGeom prst="roundRect">
            <a:avLst>
              <a:gd name="adj" fmla="val 21429"/>
            </a:avLst>
          </a:prstGeom>
          <a:solidFill>
            <a:srgbClr val="123A38"/>
          </a:solidFill>
          <a:ln w="1016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51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92160" y="5029200"/>
            <a:ext cx="118440" cy="11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Text 17"/>
          <p:cNvSpPr/>
          <p:nvPr/>
        </p:nvSpPr>
        <p:spPr>
          <a:xfrm>
            <a:off x="1353240" y="4928760"/>
            <a:ext cx="5449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F4F7FC"/>
                </a:solidFill>
                <a:effectLst/>
                <a:uFillTx/>
                <a:latin typeface="Aptos"/>
                <a:ea typeface="Aptos"/>
              </a:rPr>
              <a:t>README declares any AI tools used, as required by the course specification.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18"/>
          <p:cNvSpPr/>
          <p:nvPr/>
        </p:nvSpPr>
        <p:spPr>
          <a:xfrm>
            <a:off x="7498080" y="1536120"/>
            <a:ext cx="4077720" cy="4498560"/>
          </a:xfrm>
          <a:prstGeom prst="roundRect">
            <a:avLst>
              <a:gd name="adj" fmla="val 2691"/>
            </a:avLst>
          </a:prstGeom>
          <a:solidFill>
            <a:srgbClr val="101F2F"/>
          </a:solidFill>
          <a:ln w="8255">
            <a:solidFill>
              <a:srgbClr val="3B58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4" name="Shape 19"/>
          <p:cNvSpPr/>
          <p:nvPr/>
        </p:nvSpPr>
        <p:spPr>
          <a:xfrm>
            <a:off x="7827120" y="1865520"/>
            <a:ext cx="639720" cy="639720"/>
          </a:xfrm>
          <a:prstGeom prst="roundRect">
            <a:avLst>
              <a:gd name="adj" fmla="val 18571"/>
            </a:avLst>
          </a:prstGeom>
          <a:solidFill>
            <a:srgbClr val="173C40"/>
          </a:solidFill>
          <a:ln w="1016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55" name="Image 6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8010000" y="2048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6" name="Text 20"/>
          <p:cNvSpPr/>
          <p:nvPr/>
        </p:nvSpPr>
        <p:spPr>
          <a:xfrm>
            <a:off x="8650080" y="1920240"/>
            <a:ext cx="23587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4F7FC"/>
                </a:solidFill>
                <a:effectLst/>
                <a:uFillTx/>
                <a:latin typeface="Aptos Display"/>
              </a:rPr>
              <a:t>Next: implementation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1"/>
          <p:cNvSpPr/>
          <p:nvPr/>
        </p:nvSpPr>
        <p:spPr>
          <a:xfrm>
            <a:off x="8659440" y="2267640"/>
            <a:ext cx="2395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AB6C9"/>
                </a:solidFill>
                <a:effectLst/>
                <a:uFillTx/>
                <a:latin typeface="Aptos"/>
              </a:rPr>
              <a:t>Core features &amp; integrations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22"/>
          <p:cNvSpPr/>
          <p:nvPr/>
        </p:nvSpPr>
        <p:spPr>
          <a:xfrm>
            <a:off x="7827120" y="2724840"/>
            <a:ext cx="3401640" cy="360"/>
          </a:xfrm>
          <a:prstGeom prst="line">
            <a:avLst/>
          </a:prstGeom>
          <a:ln w="8890">
            <a:solidFill>
              <a:srgbClr val="2939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9" name="Shape 23"/>
          <p:cNvSpPr/>
          <p:nvPr/>
        </p:nvSpPr>
        <p:spPr>
          <a:xfrm>
            <a:off x="7845480" y="3095280"/>
            <a:ext cx="63720" cy="63720"/>
          </a:xfrm>
          <a:prstGeom prst="roundRect">
            <a:avLst>
              <a:gd name="adj" fmla="val 42857"/>
            </a:avLst>
          </a:prstGeom>
          <a:solidFill>
            <a:srgbClr val="45E0C1"/>
          </a:solidFill>
          <a:ln w="10160">
            <a:solidFill>
              <a:srgbClr val="45E0C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0" name="Text 24"/>
          <p:cNvSpPr/>
          <p:nvPr/>
        </p:nvSpPr>
        <p:spPr>
          <a:xfrm>
            <a:off x="8001000" y="2962800"/>
            <a:ext cx="3090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Build out the catalog and secure account flows.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25"/>
          <p:cNvSpPr/>
          <p:nvPr/>
        </p:nvSpPr>
        <p:spPr>
          <a:xfrm>
            <a:off x="7845480" y="3643920"/>
            <a:ext cx="63720" cy="63720"/>
          </a:xfrm>
          <a:prstGeom prst="roundRect">
            <a:avLst>
              <a:gd name="adj" fmla="val 42857"/>
            </a:avLst>
          </a:prstGeom>
          <a:solidFill>
            <a:srgbClr val="6C9EFF"/>
          </a:solidFill>
          <a:ln w="10160">
            <a:solidFill>
              <a:srgbClr val="6C9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2" name="Text 26"/>
          <p:cNvSpPr/>
          <p:nvPr/>
        </p:nvSpPr>
        <p:spPr>
          <a:xfrm>
            <a:off x="8001000" y="3420000"/>
            <a:ext cx="3090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Add the cart, checkout, sandbox payment and stock controls.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7"/>
          <p:cNvSpPr/>
          <p:nvPr/>
        </p:nvSpPr>
        <p:spPr>
          <a:xfrm>
            <a:off x="7845480" y="4247280"/>
            <a:ext cx="63720" cy="63720"/>
          </a:xfrm>
          <a:prstGeom prst="roundRect">
            <a:avLst>
              <a:gd name="adj" fmla="val 42857"/>
            </a:avLst>
          </a:prstGeom>
          <a:solidFill>
            <a:srgbClr val="FFB86B"/>
          </a:solidFill>
          <a:ln w="10160">
            <a:solidFill>
              <a:srgbClr val="FFB8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4" name="Text 28"/>
          <p:cNvSpPr/>
          <p:nvPr/>
        </p:nvSpPr>
        <p:spPr>
          <a:xfrm>
            <a:off x="8001000" y="4050720"/>
            <a:ext cx="309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4F7FC"/>
                </a:solidFill>
                <a:effectLst/>
                <a:uFillTx/>
                <a:latin typeface="Aptos"/>
              </a:rPr>
              <a:t>Complete administration, order history, tests and responsive checks.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29"/>
          <p:cNvSpPr/>
          <p:nvPr/>
        </p:nvSpPr>
        <p:spPr>
          <a:xfrm>
            <a:off x="7863840" y="4956120"/>
            <a:ext cx="1956600" cy="264960"/>
          </a:xfrm>
          <a:prstGeom prst="roundRect">
            <a:avLst>
              <a:gd name="adj" fmla="val 27586"/>
            </a:avLst>
          </a:prstGeom>
          <a:solidFill>
            <a:srgbClr val="132B37"/>
          </a:solidFill>
          <a:ln w="8890">
            <a:solidFill>
              <a:srgbClr val="45E0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6" name="Text 30"/>
          <p:cNvSpPr/>
          <p:nvPr/>
        </p:nvSpPr>
        <p:spPr>
          <a:xfrm>
            <a:off x="7918560" y="4960800"/>
            <a:ext cx="18468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45E0C1"/>
                </a:solidFill>
                <a:effectLst/>
                <a:uFillTx/>
                <a:latin typeface="Aptos"/>
                <a:ea typeface="Aptos"/>
              </a:rPr>
              <a:t>QUESTIONS &amp; FEEDBACK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32"/>
          <p:cNvSpPr/>
          <p:nvPr/>
        </p:nvSpPr>
        <p:spPr>
          <a:xfrm>
            <a:off x="7863840" y="576072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8290A7"/>
                </a:solidFill>
                <a:effectLst/>
                <a:uFillTx/>
                <a:latin typeface="Aptos"/>
                <a:ea typeface="Aptos"/>
              </a:rPr>
              <a:t>NexusGear • P1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1"/>
          <p:cNvSpPr>
            <a:spLocks noGrp="1"/>
          </p:cNvSpPr>
          <p:nvPr>
            <p:ph type="sldNum" idx="13"/>
          </p:nvPr>
        </p:nvSpPr>
        <p:spPr>
          <a:xfrm>
            <a:off x="1115568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1FA03D-F3E9-41FD-8F0A-1D3B6AF8F2DB}" type="slidenum">
              <a:rPr lang="en-US" sz="800" b="0" u="none" strike="noStrike">
                <a:solidFill>
                  <a:srgbClr val="8390A7"/>
                </a:solidFill>
                <a:effectLst/>
                <a:uFillTx/>
                <a:latin typeface="Aptos"/>
                <a:ea typeface="Aptos"/>
              </a:rPr>
              <a:t>10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LibreOffice/26.8.1.1$Linux_X86_64 LibreOffice_project/0fee9b7af4ed8823fb6ed0b53e2a3e73b2087f4b</Application>
  <AppVersion>15.0000</AppVersion>
  <Words>0</Words>
  <Paragraphs>0</Paragraphs>
  <Company>NexusGear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2026-10-12T17:43:30Z</dcterms:created>
  <dc:creator>NexusGear Team</dc:creator>
  <dc:description/>
  <dc:language>en-US</dc:language>
  <cp:lastModifiedBy/>
  <dcterms:modified xsi:type="dcterms:W3CDTF">2026-10-13T20:07:43Z</dcterms:modified>
  <cp:revision>2</cp:revision>
  <dc:subject>P1 - Team Setup and Planning</dc:subject>
  <dc:title>NexusGear - E-Commerce Semester Project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